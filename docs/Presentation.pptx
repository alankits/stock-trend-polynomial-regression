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2977c5a-d93e-30ed-2dd5-1c79afb4995d}">
          <p14:sldIdLst>
            <p14:sldId id="256"/>
            <p14:sldId id="257"/>
            <p14:sldId id="258"/>
          </p14:sldIdLst>
        </p14:section>
        <p14:section name="Method" id="{90c9fa28-bd75-9be4-38ef-1c4165c103eb}">
          <p14:sldIdLst>
            <p14:sldId id="259"/>
            <p14:sldId id="260"/>
          </p14:sldIdLst>
        </p14:section>
        <p14:section name="Results" id="{63cbc696-7d0b-9929-127a-a52660ec3e2c}">
          <p14:sldIdLst>
            <p14:sldId id="261"/>
            <p14:sldId id="262"/>
            <p14:sldId id="263"/>
            <p14:sldId id="264"/>
            <p14:sldId id="265"/>
          </p14:sldIdLst>
        </p14:section>
        <p14:section name="Validation" id="{a416f12c-e8cb-e051-ddd7-fde57c6818c2}">
          <p14:sldIdLst>
            <p14:sldId id="266"/>
            <p14:sldId id="267"/>
          </p14:sldIdLst>
        </p14:section>
        <p14:section name="Conclusion" id="{a5adc66a-792a-ea27-041c-877303898641}">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predicts the short-term trend of TCS stock using polynomial regression, and uses the statistics from our course to justify and validate every decision. Replace the yellow team and guide names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problem: prices are non-linear, so we use polynomial regression. Then walk through the five objectives; they are the outline of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course outcome maps to code: CO3 is in descriptive.py and the forecast in model.py, CO4 is degree selection and correlation, CO5 is hypothesis_tests.py. The syllabus topics from Units III, IV and V all appear in these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download about two years of TCS data with yfinance. The day number is scaled to 0 to 1 so that x to the power 6 stays small. We split by time: the first 80% trains the model and the last 20% tests it, because shuffling would leak future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steps in main.py. Every step prints its results under a heading and saves a plot. All printed output also goes to outputs/results.txt for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median and mode summarise the price and the returns. We compute mean and standard deviation with the formula and with NumPy to show they match. The freehand line is drawn through quarterly averages; the real method is by hand and subjective. The 5-day average follows short-term moves, the 20-day average shows the smoother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III and CO3. We treat the daily return as a continuous random variable and fit a Normal distribution using its mean and standard deviation. Using the Normal CDF we get the probability of an up day and of a fall of more than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CO4. Polynomial regression is still linear regression, just on the columns x, x squared and so on. We fitted degrees 1 to 6. Training error always falls with degree, so we choose by test MSE, the error on unseen data. Read the chosen degree and its test MSE from results.txt.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CO4. MSE is the average squared error and R squared is the share of variation explained. Pearson r is computed with the formula and with SciPy and they match; Spearman uses ranks. If test R squared is negative, say honestly that the curve extrapolates poorly on unseen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CO3. We refit the chosen degree on all the data and forecast only 10 trading days, because polynomials shoot up or down far from the data. The shaded band is plus or minus 1.96 times the residual standard deviation, a 95% prediction band. The trend is upward or downward depending on the forecast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CO5. Every test prints H0, H1, the statistic, the p-value, the decision and a plain-English conclusion. The t-test compares a mean, the F-test compares two variances, and the chi-square tests compare observed and expected counts. Fill the p-values and decisions from results.txt.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gui.py and show the window live. It uses tkinter, which comes with Python. The Run Analysis button calls the same main function, then shows results.txt; each button opens a saved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limits: no model predicts news. A polynomial is only trusted a few days ahead. Future work could add more inputs or compare with time series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five-line summary. Read each line with the real values from the SUMMARY section of results.txt.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The README has 15 likely viva questions with short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926080"/>
            <a:ext cx="8046720" cy="164592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457200" y="4773168"/>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25CS203 · Stock Price Trend Prediction Using Polynomial Regression</a:t>
            </a:r>
            <a:endParaRPr lang="en-US" sz="10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circle"/>
          <p:cNvSpPr/>
          <p:nvPr/>
        </p:nvSpPr>
        <p:spPr>
          <a:xfrm>
            <a:off x="548640" y="502920"/>
            <a:ext cx="777240" cy="777240"/>
          </a:xfrm>
          <a:prstGeom prst="ellipse">
            <a:avLst/>
          </a:prstGeom>
          <a:solidFill>
            <a:schemeClr val="accent2"/>
          </a:solidFill>
          <a:ln w="12700">
            <a:solidFill>
              <a:schemeClr val="accent2"/>
            </a:solidFill>
            <a:prstDash val="solid"/>
          </a:ln>
        </p:spPr>
      </p:sp>
      <p:pic>
        <p:nvPicPr>
          <p:cNvPr id="3" name="Title icon" descr="preencoded.png">    </p:cNvPr>
          <p:cNvPicPr>
            <a:picLocks noChangeAspect="1"/>
          </p:cNvPicPr>
          <p:nvPr/>
        </p:nvPicPr>
        <p:blipFill>
          <a:blip r:embed="rId1"/>
          <a:stretch>
            <a:fillRect/>
          </a:stretch>
        </p:blipFill>
        <p:spPr>
          <a:xfrm>
            <a:off x="742950" y="697230"/>
            <a:ext cx="388620" cy="388620"/>
          </a:xfrm>
          <a:prstGeom prst="rect">
            <a:avLst/>
          </a:prstGeom>
        </p:spPr>
      </p:pic>
      <p:sp>
        <p:nvSpPr>
          <p:cNvPr id="4" name="Text 0"/>
          <p:cNvSpPr/>
          <p:nvPr>
            <p:ph idx="100" type="title" hasCustomPrompt="1"/>
          </p:nvPr>
        </p:nvSpPr>
        <p:spPr>
          <a:xfrm>
            <a:off x="548640" y="1417320"/>
            <a:ext cx="8046720" cy="137160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Stock Price Trend Prediction Using Polynomial Regression</a:t>
            </a:r>
            <a:endParaRPr lang="en-US" sz="3600" dirty="0"/>
          </a:p>
        </p:txBody>
      </p:sp>
      <p:sp>
        <p:nvSpPr>
          <p:cNvPr id="5" name="Text 0"/>
          <p:cNvSpPr/>
          <p:nvPr>
            <p:ph idx="101" type="body" hasCustomPrompt="1"/>
          </p:nvPr>
        </p:nvSpPr>
        <p:spPr>
          <a:xfrm>
            <a:off x="548640" y="2926080"/>
            <a:ext cx="8046720" cy="1645920"/>
          </a:xfrm>
          <a:prstGeom prst="rect">
            <a:avLst/>
          </a:prstGeom>
          <a:noFill/>
          <a:ln/>
        </p:spPr>
        <p:txBody>
          <a:bodyPr wrap="square" rtlCol="0" anchor="t"/>
          <a:lstStyle/>
          <a:p>
            <a:pPr algn="l" indent="0" marL="0">
              <a:buNone/>
            </a:pPr>
            <a:r>
              <a:rPr lang="en-US" sz="1600" dirty="0">
                <a:solidFill>
                  <a:schemeClr val="bg2"/>
                </a:solidFill>
              </a:rPr>
              <a:t>Micro Project · Probability and Statistics for Computer Science (25CS203)</a:t>
            </a:r>
            <a:endParaRPr lang="en-US" sz="1600" dirty="0"/>
          </a:p>
          <a:p>
            <a:pPr algn="l" indent="0" marL="0">
              <a:buNone/>
            </a:pPr>
            <a:r>
              <a:rPr lang="en-US" sz="1600" dirty="0">
                <a:solidFill>
                  <a:schemeClr val="bg2"/>
                </a:solidFill>
              </a:rPr>
              <a:t>Industry focus: Data Analyst · Stock: TCS.NS</a:t>
            </a:r>
            <a:endParaRPr lang="en-US" sz="1600" dirty="0"/>
          </a:p>
          <a:p>
            <a:pPr algn="l" indent="0" marL="0">
              <a:buNone/>
            </a:pPr>
            <a:r>
              <a:rPr lang="en-US" sz="1600" dirty="0">
                <a:solidFill>
                  <a:schemeClr val="bg2"/>
                </a:solidFill>
              </a:rPr>
              <a:t> </a:t>
            </a:r>
            <a:endParaRPr lang="en-US" sz="1600" dirty="0"/>
          </a:p>
          <a:p>
            <a:pPr algn="l" indent="0" marL="0">
              <a:buNone/>
            </a:pPr>
            <a:r>
              <a:rPr lang="en-US" sz="1600" b="1" dirty="0">
                <a:solidFill>
                  <a:schemeClr val="accent2"/>
                </a:solidFill>
              </a:rPr>
              <a:t>[Team member names]  ·  Guide: [Faculty name]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Problem and objectives</a:t>
            </a:r>
            <a:endParaRPr lang="en-US" sz="3000" dirty="0"/>
          </a:p>
        </p:txBody>
      </p:sp>
      <p:sp>
        <p:nvSpPr>
          <p:cNvPr id="3" name="Problem card"/>
          <p:cNvSpPr/>
          <p:nvPr/>
        </p:nvSpPr>
        <p:spPr>
          <a:xfrm>
            <a:off x="457200" y="1097280"/>
            <a:ext cx="3566160" cy="3429000"/>
          </a:xfrm>
          <a:prstGeom prst="roundRect">
            <a:avLst>
              <a:gd name="adj" fmla="val 2133"/>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Problem text"/>
          <p:cNvSpPr txBox="1"/>
          <p:nvPr/>
        </p:nvSpPr>
        <p:spPr>
          <a:xfrm>
            <a:off x="685800" y="1280160"/>
            <a:ext cx="3108960" cy="3063240"/>
          </a:xfrm>
          <a:prstGeom prst="rect">
            <a:avLst/>
          </a:prstGeom>
          <a:noFill/>
          <a:ln/>
        </p:spPr>
        <p:txBody>
          <a:bodyPr wrap="square" rtlCol="0" anchor="t"/>
          <a:lstStyle/>
          <a:p>
            <a:pPr indent="0" marL="0">
              <a:spcAft>
                <a:spcPts val="800"/>
              </a:spcAft>
              <a:buNone/>
            </a:pPr>
            <a:r>
              <a:rPr lang="en-US" sz="1800" b="1" dirty="0">
                <a:solidFill>
                  <a:schemeClr val="accent2"/>
                </a:solidFill>
              </a:rPr>
              <a:t>The problem</a:t>
            </a:r>
            <a:endParaRPr lang="en-US" sz="1800" dirty="0"/>
          </a:p>
          <a:p>
            <a:pPr indent="0" marL="0">
              <a:spcAft>
                <a:spcPts val="800"/>
              </a:spcAft>
              <a:buNone/>
            </a:pPr>
            <a:r>
              <a:rPr lang="en-US" sz="1500" dirty="0">
                <a:solidFill>
                  <a:schemeClr val="bg1"/>
                </a:solidFill>
              </a:rPr>
              <a:t>Stock prices bend up and down, so a straight line misses the shape. A data analyst needs a model that follows non-linear patterns, says how uncertain its forecast is, and proves its choices with statistics.</a:t>
            </a:r>
            <a:endParaRPr lang="en-US" sz="1800" dirty="0"/>
          </a:p>
        </p:txBody>
      </p:sp>
      <p:sp>
        <p:nvSpPr>
          <p:cNvPr id="5" name="Objective 1 circle"/>
          <p:cNvSpPr/>
          <p:nvPr/>
        </p:nvSpPr>
        <p:spPr>
          <a:xfrm>
            <a:off x="4343400" y="1097280"/>
            <a:ext cx="502920" cy="502920"/>
          </a:xfrm>
          <a:prstGeom prst="ellipse">
            <a:avLst/>
          </a:prstGeom>
          <a:solidFill>
            <a:schemeClr val="accent1"/>
          </a:solidFill>
          <a:ln w="12700">
            <a:solidFill>
              <a:schemeClr val="accent1"/>
            </a:solidFill>
            <a:prstDash val="solid"/>
          </a:ln>
        </p:spPr>
      </p:sp>
      <p:pic>
        <p:nvPicPr>
          <p:cNvPr id="6" name="Objective 1 icon" descr="preencoded.png">    </p:cNvPr>
          <p:cNvPicPr>
            <a:picLocks noChangeAspect="1"/>
          </p:cNvPicPr>
          <p:nvPr/>
        </p:nvPicPr>
        <p:blipFill>
          <a:blip r:embed="rId1"/>
          <a:stretch>
            <a:fillRect/>
          </a:stretch>
        </p:blipFill>
        <p:spPr>
          <a:xfrm>
            <a:off x="4469130" y="1223010"/>
            <a:ext cx="251460" cy="251460"/>
          </a:xfrm>
          <a:prstGeom prst="rect">
            <a:avLst/>
          </a:prstGeom>
        </p:spPr>
      </p:pic>
      <p:sp>
        <p:nvSpPr>
          <p:cNvPr id="7" name="Objective text 1"/>
          <p:cNvSpPr txBox="1"/>
          <p:nvPr/>
        </p:nvSpPr>
        <p:spPr>
          <a:xfrm>
            <a:off x="4983480" y="1097280"/>
            <a:ext cx="3703320" cy="502920"/>
          </a:xfrm>
          <a:prstGeom prst="rect">
            <a:avLst/>
          </a:prstGeom>
          <a:noFill/>
          <a:ln/>
        </p:spPr>
        <p:txBody>
          <a:bodyPr wrap="square" lIns="0" tIns="0" rIns="0" bIns="0" rtlCol="0" anchor="ctr"/>
          <a:lstStyle/>
          <a:p>
            <a:pPr indent="0" marL="0">
              <a:buNone/>
            </a:pPr>
            <a:r>
              <a:rPr lang="en-US" sz="1500" dirty="0">
                <a:solidFill>
                  <a:schemeClr val="tx1"/>
                </a:solidFill>
              </a:rPr>
              <a:t>Collect and clean 2 years of daily TCS prices</a:t>
            </a:r>
            <a:endParaRPr lang="en-US" sz="1500" dirty="0"/>
          </a:p>
        </p:txBody>
      </p:sp>
      <p:sp>
        <p:nvSpPr>
          <p:cNvPr id="8" name="Objective 2 circle"/>
          <p:cNvSpPr/>
          <p:nvPr/>
        </p:nvSpPr>
        <p:spPr>
          <a:xfrm>
            <a:off x="4343400" y="1792224"/>
            <a:ext cx="502920" cy="502920"/>
          </a:xfrm>
          <a:prstGeom prst="ellipse">
            <a:avLst/>
          </a:prstGeom>
          <a:solidFill>
            <a:schemeClr val="accent1"/>
          </a:solidFill>
          <a:ln w="12700">
            <a:solidFill>
              <a:schemeClr val="accent1"/>
            </a:solidFill>
            <a:prstDash val="solid"/>
          </a:ln>
        </p:spPr>
      </p:sp>
      <p:pic>
        <p:nvPicPr>
          <p:cNvPr id="9" name="Objective 2 icon" descr="preencoded.png">    </p:cNvPr>
          <p:cNvPicPr>
            <a:picLocks noChangeAspect="1"/>
          </p:cNvPicPr>
          <p:nvPr/>
        </p:nvPicPr>
        <p:blipFill>
          <a:blip r:embed="rId2"/>
          <a:stretch>
            <a:fillRect/>
          </a:stretch>
        </p:blipFill>
        <p:spPr>
          <a:xfrm>
            <a:off x="4469130" y="1917954"/>
            <a:ext cx="251460" cy="251460"/>
          </a:xfrm>
          <a:prstGeom prst="rect">
            <a:avLst/>
          </a:prstGeom>
        </p:spPr>
      </p:pic>
      <p:sp>
        <p:nvSpPr>
          <p:cNvPr id="10" name="Objective text 2"/>
          <p:cNvSpPr txBox="1"/>
          <p:nvPr/>
        </p:nvSpPr>
        <p:spPr>
          <a:xfrm>
            <a:off x="4983480" y="1792224"/>
            <a:ext cx="3703320" cy="502920"/>
          </a:xfrm>
          <a:prstGeom prst="rect">
            <a:avLst/>
          </a:prstGeom>
          <a:noFill/>
          <a:ln/>
        </p:spPr>
        <p:txBody>
          <a:bodyPr wrap="square" lIns="0" tIns="0" rIns="0" bIns="0" rtlCol="0" anchor="ctr"/>
          <a:lstStyle/>
          <a:p>
            <a:pPr indent="0" marL="0">
              <a:buNone/>
            </a:pPr>
            <a:r>
              <a:rPr lang="en-US" sz="1500" dirty="0">
                <a:solidFill>
                  <a:schemeClr val="tx1"/>
                </a:solidFill>
              </a:rPr>
              <a:t>Describe the data and measure the trend</a:t>
            </a:r>
            <a:endParaRPr lang="en-US" sz="1500" dirty="0"/>
          </a:p>
        </p:txBody>
      </p:sp>
      <p:sp>
        <p:nvSpPr>
          <p:cNvPr id="11" name="Objective 3 circle"/>
          <p:cNvSpPr/>
          <p:nvPr/>
        </p:nvSpPr>
        <p:spPr>
          <a:xfrm>
            <a:off x="4343400" y="2487168"/>
            <a:ext cx="502920" cy="502920"/>
          </a:xfrm>
          <a:prstGeom prst="ellipse">
            <a:avLst/>
          </a:prstGeom>
          <a:solidFill>
            <a:schemeClr val="accent1"/>
          </a:solidFill>
          <a:ln w="12700">
            <a:solidFill>
              <a:schemeClr val="accent1"/>
            </a:solidFill>
            <a:prstDash val="solid"/>
          </a:ln>
        </p:spPr>
      </p:sp>
      <p:pic>
        <p:nvPicPr>
          <p:cNvPr id="12" name="Objective 3 icon" descr="preencoded.png">    </p:cNvPr>
          <p:cNvPicPr>
            <a:picLocks noChangeAspect="1"/>
          </p:cNvPicPr>
          <p:nvPr/>
        </p:nvPicPr>
        <p:blipFill>
          <a:blip r:embed="rId3"/>
          <a:stretch>
            <a:fillRect/>
          </a:stretch>
        </p:blipFill>
        <p:spPr>
          <a:xfrm>
            <a:off x="4469130" y="2612898"/>
            <a:ext cx="251460" cy="251460"/>
          </a:xfrm>
          <a:prstGeom prst="rect">
            <a:avLst/>
          </a:prstGeom>
        </p:spPr>
      </p:pic>
      <p:sp>
        <p:nvSpPr>
          <p:cNvPr id="13" name="Objective text 3"/>
          <p:cNvSpPr txBox="1"/>
          <p:nvPr/>
        </p:nvSpPr>
        <p:spPr>
          <a:xfrm>
            <a:off x="4983480" y="2487168"/>
            <a:ext cx="3703320" cy="502920"/>
          </a:xfrm>
          <a:prstGeom prst="rect">
            <a:avLst/>
          </a:prstGeom>
          <a:noFill/>
          <a:ln/>
        </p:spPr>
        <p:txBody>
          <a:bodyPr wrap="square" lIns="0" tIns="0" rIns="0" bIns="0" rtlCol="0" anchor="ctr"/>
          <a:lstStyle/>
          <a:p>
            <a:pPr indent="0" marL="0">
              <a:buNone/>
            </a:pPr>
            <a:r>
              <a:rPr lang="en-US" sz="1500" dirty="0">
                <a:solidFill>
                  <a:schemeClr val="tx1"/>
                </a:solidFill>
              </a:rPr>
              <a:t>Fit polynomial degrees 1–6 and pick the best</a:t>
            </a:r>
            <a:endParaRPr lang="en-US" sz="1500" dirty="0"/>
          </a:p>
        </p:txBody>
      </p:sp>
      <p:sp>
        <p:nvSpPr>
          <p:cNvPr id="14" name="Objective 4 circle"/>
          <p:cNvSpPr/>
          <p:nvPr/>
        </p:nvSpPr>
        <p:spPr>
          <a:xfrm>
            <a:off x="4343400" y="3182112"/>
            <a:ext cx="502920" cy="502920"/>
          </a:xfrm>
          <a:prstGeom prst="ellipse">
            <a:avLst/>
          </a:prstGeom>
          <a:solidFill>
            <a:schemeClr val="accent1"/>
          </a:solidFill>
          <a:ln w="12700">
            <a:solidFill>
              <a:schemeClr val="accent1"/>
            </a:solidFill>
            <a:prstDash val="solid"/>
          </a:ln>
        </p:spPr>
      </p:sp>
      <p:pic>
        <p:nvPicPr>
          <p:cNvPr id="15" name="Objective 4 icon" descr="preencoded.png">    </p:cNvPr>
          <p:cNvPicPr>
            <a:picLocks noChangeAspect="1"/>
          </p:cNvPicPr>
          <p:nvPr/>
        </p:nvPicPr>
        <p:blipFill>
          <a:blip r:embed="rId4"/>
          <a:stretch>
            <a:fillRect/>
          </a:stretch>
        </p:blipFill>
        <p:spPr>
          <a:xfrm>
            <a:off x="4469130" y="3307842"/>
            <a:ext cx="251460" cy="251460"/>
          </a:xfrm>
          <a:prstGeom prst="rect">
            <a:avLst/>
          </a:prstGeom>
        </p:spPr>
      </p:pic>
      <p:sp>
        <p:nvSpPr>
          <p:cNvPr id="16" name="Objective text 4"/>
          <p:cNvSpPr txBox="1"/>
          <p:nvPr/>
        </p:nvSpPr>
        <p:spPr>
          <a:xfrm>
            <a:off x="4983480" y="3182112"/>
            <a:ext cx="3703320" cy="502920"/>
          </a:xfrm>
          <a:prstGeom prst="rect">
            <a:avLst/>
          </a:prstGeom>
          <a:noFill/>
          <a:ln/>
        </p:spPr>
        <p:txBody>
          <a:bodyPr wrap="square" lIns="0" tIns="0" rIns="0" bIns="0" rtlCol="0" anchor="ctr"/>
          <a:lstStyle/>
          <a:p>
            <a:pPr indent="0" marL="0">
              <a:buNone/>
            </a:pPr>
            <a:r>
              <a:rPr lang="en-US" sz="1500" dirty="0">
                <a:solidFill>
                  <a:schemeClr val="tx1"/>
                </a:solidFill>
              </a:rPr>
              <a:t>Forecast 10 days with a 95% prediction band</a:t>
            </a:r>
            <a:endParaRPr lang="en-US" sz="1500" dirty="0"/>
          </a:p>
        </p:txBody>
      </p:sp>
      <p:sp>
        <p:nvSpPr>
          <p:cNvPr id="17" name="Objective 5 circle"/>
          <p:cNvSpPr/>
          <p:nvPr/>
        </p:nvSpPr>
        <p:spPr>
          <a:xfrm>
            <a:off x="4343400" y="3877056"/>
            <a:ext cx="502920" cy="502920"/>
          </a:xfrm>
          <a:prstGeom prst="ellipse">
            <a:avLst/>
          </a:prstGeom>
          <a:solidFill>
            <a:schemeClr val="accent1"/>
          </a:solidFill>
          <a:ln w="12700">
            <a:solidFill>
              <a:schemeClr val="accent1"/>
            </a:solidFill>
            <a:prstDash val="solid"/>
          </a:ln>
        </p:spPr>
      </p:sp>
      <p:pic>
        <p:nvPicPr>
          <p:cNvPr id="18" name="Objective 5 icon" descr="preencoded.png">    </p:cNvPr>
          <p:cNvPicPr>
            <a:picLocks noChangeAspect="1"/>
          </p:cNvPicPr>
          <p:nvPr/>
        </p:nvPicPr>
        <p:blipFill>
          <a:blip r:embed="rId5"/>
          <a:stretch>
            <a:fillRect/>
          </a:stretch>
        </p:blipFill>
        <p:spPr>
          <a:xfrm>
            <a:off x="4469130" y="4002786"/>
            <a:ext cx="251460" cy="251460"/>
          </a:xfrm>
          <a:prstGeom prst="rect">
            <a:avLst/>
          </a:prstGeom>
        </p:spPr>
      </p:pic>
      <p:sp>
        <p:nvSpPr>
          <p:cNvPr id="19" name="Objective text 5"/>
          <p:cNvSpPr txBox="1"/>
          <p:nvPr/>
        </p:nvSpPr>
        <p:spPr>
          <a:xfrm>
            <a:off x="4983480" y="3877056"/>
            <a:ext cx="3703320" cy="502920"/>
          </a:xfrm>
          <a:prstGeom prst="rect">
            <a:avLst/>
          </a:prstGeom>
          <a:noFill/>
          <a:ln/>
        </p:spPr>
        <p:txBody>
          <a:bodyPr wrap="square" lIns="0" tIns="0" rIns="0" bIns="0" rtlCol="0" anchor="ctr"/>
          <a:lstStyle/>
          <a:p>
            <a:pPr indent="0" marL="0">
              <a:buNone/>
            </a:pPr>
            <a:r>
              <a:rPr lang="en-US" sz="1500" dirty="0">
                <a:solidFill>
                  <a:schemeClr val="tx1"/>
                </a:solidFill>
              </a:rPr>
              <a:t>Validate the model with hypothesis tests</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Course outcomes covered</a:t>
            </a:r>
            <a:endParaRPr lang="en-US" sz="3000" dirty="0"/>
          </a:p>
        </p:txBody>
      </p:sp>
      <p:sp>
        <p:nvSpPr>
          <p:cNvPr id="3" name="CO card CO3"/>
          <p:cNvSpPr/>
          <p:nvPr/>
        </p:nvSpPr>
        <p:spPr>
          <a:xfrm>
            <a:off x="457200" y="1097280"/>
            <a:ext cx="2560320" cy="34290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CO3 circle"/>
          <p:cNvSpPr/>
          <p:nvPr/>
        </p:nvSpPr>
        <p:spPr>
          <a:xfrm>
            <a:off x="731520" y="1325880"/>
            <a:ext cx="594360" cy="594360"/>
          </a:xfrm>
          <a:prstGeom prst="ellipse">
            <a:avLst/>
          </a:prstGeom>
          <a:solidFill>
            <a:schemeClr val="accent1"/>
          </a:solidFill>
          <a:ln w="12700">
            <a:solidFill>
              <a:schemeClr val="accent1"/>
            </a:solidFill>
            <a:prstDash val="solid"/>
          </a:ln>
        </p:spPr>
      </p:sp>
      <p:pic>
        <p:nvPicPr>
          <p:cNvPr id="5" name="CO3 icon" descr="preencoded.png">    </p:cNvPr>
          <p:cNvPicPr>
            <a:picLocks noChangeAspect="1"/>
          </p:cNvPicPr>
          <p:nvPr/>
        </p:nvPicPr>
        <p:blipFill>
          <a:blip r:embed="rId1"/>
          <a:stretch>
            <a:fillRect/>
          </a:stretch>
        </p:blipFill>
        <p:spPr>
          <a:xfrm>
            <a:off x="880110" y="1474470"/>
            <a:ext cx="297180" cy="297180"/>
          </a:xfrm>
          <a:prstGeom prst="rect">
            <a:avLst/>
          </a:prstGeom>
        </p:spPr>
      </p:pic>
      <p:sp>
        <p:nvSpPr>
          <p:cNvPr id="6" name="CO3 label"/>
          <p:cNvSpPr txBox="1"/>
          <p:nvPr/>
        </p:nvSpPr>
        <p:spPr>
          <a:xfrm>
            <a:off x="1463040" y="1325880"/>
            <a:ext cx="1371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CO3</a:t>
            </a:r>
            <a:endParaRPr lang="en-US" sz="2800" dirty="0"/>
          </a:p>
        </p:txBody>
      </p:sp>
      <p:sp>
        <p:nvSpPr>
          <p:cNvPr id="7" name="CO3 text"/>
          <p:cNvSpPr txBox="1"/>
          <p:nvPr/>
        </p:nvSpPr>
        <p:spPr>
          <a:xfrm>
            <a:off x="731520" y="2148840"/>
            <a:ext cx="2057400" cy="219456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Predict data with uncertainty</a:t>
            </a:r>
            <a:endParaRPr lang="en-US" sz="1600" dirty="0"/>
          </a:p>
          <a:p>
            <a:pPr indent="0" marL="0">
              <a:spcAft>
                <a:spcPts val="800"/>
              </a:spcAft>
              <a:buNone/>
            </a:pPr>
            <a:r>
              <a:rPr lang="en-US" sz="1400" dirty="0">
                <a:solidFill>
                  <a:schemeClr val="accent4"/>
                </a:solidFill>
              </a:rPr>
              <a:t>Normal probabilities of daily returns and a 10-day forecast with a ±1.96σ band</a:t>
            </a:r>
            <a:endParaRPr lang="en-US" sz="1600" dirty="0"/>
          </a:p>
        </p:txBody>
      </p:sp>
      <p:sp>
        <p:nvSpPr>
          <p:cNvPr id="8" name="CO card CO4"/>
          <p:cNvSpPr/>
          <p:nvPr/>
        </p:nvSpPr>
        <p:spPr>
          <a:xfrm>
            <a:off x="3291840" y="1097280"/>
            <a:ext cx="2560320" cy="34290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CO4 circle"/>
          <p:cNvSpPr/>
          <p:nvPr/>
        </p:nvSpPr>
        <p:spPr>
          <a:xfrm>
            <a:off x="3566160" y="1325880"/>
            <a:ext cx="594360" cy="594360"/>
          </a:xfrm>
          <a:prstGeom prst="ellipse">
            <a:avLst/>
          </a:prstGeom>
          <a:solidFill>
            <a:schemeClr val="accent1"/>
          </a:solidFill>
          <a:ln w="12700">
            <a:solidFill>
              <a:schemeClr val="accent1"/>
            </a:solidFill>
            <a:prstDash val="solid"/>
          </a:ln>
        </p:spPr>
      </p:sp>
      <p:pic>
        <p:nvPicPr>
          <p:cNvPr id="10" name="CO4 icon" descr="preencoded.png">    </p:cNvPr>
          <p:cNvPicPr>
            <a:picLocks noChangeAspect="1"/>
          </p:cNvPicPr>
          <p:nvPr/>
        </p:nvPicPr>
        <p:blipFill>
          <a:blip r:embed="rId2"/>
          <a:stretch>
            <a:fillRect/>
          </a:stretch>
        </p:blipFill>
        <p:spPr>
          <a:xfrm>
            <a:off x="3714750" y="1474470"/>
            <a:ext cx="297180" cy="297180"/>
          </a:xfrm>
          <a:prstGeom prst="rect">
            <a:avLst/>
          </a:prstGeom>
        </p:spPr>
      </p:pic>
      <p:sp>
        <p:nvSpPr>
          <p:cNvPr id="11" name="CO4 label"/>
          <p:cNvSpPr txBox="1"/>
          <p:nvPr/>
        </p:nvSpPr>
        <p:spPr>
          <a:xfrm>
            <a:off x="4297680" y="1325880"/>
            <a:ext cx="1371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CO4</a:t>
            </a:r>
            <a:endParaRPr lang="en-US" sz="2800" dirty="0"/>
          </a:p>
        </p:txBody>
      </p:sp>
      <p:sp>
        <p:nvSpPr>
          <p:cNvPr id="12" name="CO4 text"/>
          <p:cNvSpPr txBox="1"/>
          <p:nvPr/>
        </p:nvSpPr>
        <p:spPr>
          <a:xfrm>
            <a:off x="3566160" y="2148840"/>
            <a:ext cx="2057400" cy="219456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Justify model decisions</a:t>
            </a:r>
            <a:endParaRPr lang="en-US" sz="1600" dirty="0"/>
          </a:p>
          <a:p>
            <a:pPr indent="0" marL="0">
              <a:spcAft>
                <a:spcPts val="800"/>
              </a:spcAft>
              <a:buNone/>
            </a:pPr>
            <a:r>
              <a:rPr lang="en-US" sz="1400" dirty="0">
                <a:solidFill>
                  <a:schemeClr val="accent4"/>
                </a:solidFill>
              </a:rPr>
              <a:t>Degree chosen by lowest test MSE; MSE, R², Pearson and Spearman correlation</a:t>
            </a:r>
            <a:endParaRPr lang="en-US" sz="1600" dirty="0"/>
          </a:p>
        </p:txBody>
      </p:sp>
      <p:sp>
        <p:nvSpPr>
          <p:cNvPr id="13" name="CO card CO5"/>
          <p:cNvSpPr/>
          <p:nvPr/>
        </p:nvSpPr>
        <p:spPr>
          <a:xfrm>
            <a:off x="6126480" y="1097280"/>
            <a:ext cx="2560320" cy="3429000"/>
          </a:xfrm>
          <a:prstGeom prst="roundRect">
            <a:avLst>
              <a:gd name="adj" fmla="val 2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CO5 circle"/>
          <p:cNvSpPr/>
          <p:nvPr/>
        </p:nvSpPr>
        <p:spPr>
          <a:xfrm>
            <a:off x="6400800" y="1325880"/>
            <a:ext cx="594360" cy="594360"/>
          </a:xfrm>
          <a:prstGeom prst="ellipse">
            <a:avLst/>
          </a:prstGeom>
          <a:solidFill>
            <a:schemeClr val="accent1"/>
          </a:solidFill>
          <a:ln w="12700">
            <a:solidFill>
              <a:schemeClr val="accent1"/>
            </a:solidFill>
            <a:prstDash val="solid"/>
          </a:ln>
        </p:spPr>
      </p:sp>
      <p:pic>
        <p:nvPicPr>
          <p:cNvPr id="15" name="CO5 icon" descr="preencoded.png">    </p:cNvPr>
          <p:cNvPicPr>
            <a:picLocks noChangeAspect="1"/>
          </p:cNvPicPr>
          <p:nvPr/>
        </p:nvPicPr>
        <p:blipFill>
          <a:blip r:embed="rId3"/>
          <a:stretch>
            <a:fillRect/>
          </a:stretch>
        </p:blipFill>
        <p:spPr>
          <a:xfrm>
            <a:off x="6549390" y="1474470"/>
            <a:ext cx="297180" cy="297180"/>
          </a:xfrm>
          <a:prstGeom prst="rect">
            <a:avLst/>
          </a:prstGeom>
        </p:spPr>
      </p:pic>
      <p:sp>
        <p:nvSpPr>
          <p:cNvPr id="16" name="CO5 label"/>
          <p:cNvSpPr txBox="1"/>
          <p:nvPr/>
        </p:nvSpPr>
        <p:spPr>
          <a:xfrm>
            <a:off x="7132320" y="1325880"/>
            <a:ext cx="1371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CO5</a:t>
            </a:r>
            <a:endParaRPr lang="en-US" sz="2800" dirty="0"/>
          </a:p>
        </p:txBody>
      </p:sp>
      <p:sp>
        <p:nvSpPr>
          <p:cNvPr id="17" name="CO5 text"/>
          <p:cNvSpPr txBox="1"/>
          <p:nvPr/>
        </p:nvSpPr>
        <p:spPr>
          <a:xfrm>
            <a:off x="6400800" y="2148840"/>
            <a:ext cx="2057400" cy="2194560"/>
          </a:xfrm>
          <a:prstGeom prst="rect">
            <a:avLst/>
          </a:prstGeom>
          <a:noFill/>
          <a:ln/>
        </p:spPr>
        <p:txBody>
          <a:bodyPr wrap="square" lIns="0" tIns="0" rIns="0" bIns="0" rtlCol="0" anchor="t"/>
          <a:lstStyle/>
          <a:p>
            <a:pPr indent="0" marL="0">
              <a:spcAft>
                <a:spcPts val="800"/>
              </a:spcAft>
              <a:buNone/>
            </a:pPr>
            <a:r>
              <a:rPr lang="en-US" sz="1600" b="1" dirty="0">
                <a:solidFill>
                  <a:schemeClr val="tx1"/>
                </a:solidFill>
              </a:rPr>
              <a:t>Validate the model</a:t>
            </a:r>
            <a:endParaRPr lang="en-US" sz="1600" dirty="0"/>
          </a:p>
          <a:p>
            <a:pPr indent="0" marL="0">
              <a:spcAft>
                <a:spcPts val="800"/>
              </a:spcAft>
              <a:buNone/>
            </a:pPr>
            <a:r>
              <a:rPr lang="en-US" sz="1400" dirty="0">
                <a:solidFill>
                  <a:schemeClr val="accent4"/>
                </a:solidFill>
              </a:rPr>
              <a:t>Confidence interval, t-test, F-test and two chi-square tests at α = 0.05</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Data and tools</a:t>
            </a:r>
            <a:endParaRPr lang="en-US" sz="3000" dirty="0"/>
          </a:p>
        </p:txBody>
      </p:sp>
      <p:sp>
        <p:nvSpPr>
          <p:cNvPr id="3" name="Stat card Tata Consultancy Services, NSE"/>
          <p:cNvSpPr/>
          <p:nvPr/>
        </p:nvSpPr>
        <p:spPr>
          <a:xfrm>
            <a:off x="457200" y="1097280"/>
            <a:ext cx="1920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at value"/>
          <p:cNvSpPr txBox="1"/>
          <p:nvPr/>
        </p:nvSpPr>
        <p:spPr>
          <a:xfrm>
            <a:off x="594360" y="1207008"/>
            <a:ext cx="1645920" cy="729234"/>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TCS.NS</a:t>
            </a:r>
            <a:endParaRPr lang="en-US" sz="3000" dirty="0"/>
          </a:p>
        </p:txBody>
      </p:sp>
      <p:sp>
        <p:nvSpPr>
          <p:cNvPr id="5" name="Stat label"/>
          <p:cNvSpPr txBox="1"/>
          <p:nvPr/>
        </p:nvSpPr>
        <p:spPr>
          <a:xfrm>
            <a:off x="594360" y="1919326"/>
            <a:ext cx="1645920" cy="424282"/>
          </a:xfrm>
          <a:prstGeom prst="rect">
            <a:avLst/>
          </a:prstGeom>
          <a:noFill/>
          <a:ln/>
        </p:spPr>
        <p:txBody>
          <a:bodyPr wrap="square" lIns="0" tIns="0" rIns="0" bIns="0" rtlCol="0" anchor="t"/>
          <a:lstStyle/>
          <a:p>
            <a:pPr indent="0" marL="0">
              <a:buNone/>
            </a:pPr>
            <a:r>
              <a:rPr lang="en-US" sz="1200" dirty="0">
                <a:solidFill>
                  <a:schemeClr val="accent6"/>
                </a:solidFill>
              </a:rPr>
              <a:t>Tata Consultancy Services, NSE</a:t>
            </a:r>
            <a:endParaRPr lang="en-US" sz="1200" dirty="0"/>
          </a:p>
        </p:txBody>
      </p:sp>
      <p:sp>
        <p:nvSpPr>
          <p:cNvPr id="6" name="Stat card Daily closing prices from Yahoo Finance"/>
          <p:cNvSpPr/>
          <p:nvPr/>
        </p:nvSpPr>
        <p:spPr>
          <a:xfrm>
            <a:off x="2560320" y="1097280"/>
            <a:ext cx="1920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Stat value"/>
          <p:cNvSpPr txBox="1"/>
          <p:nvPr/>
        </p:nvSpPr>
        <p:spPr>
          <a:xfrm>
            <a:off x="2697480" y="1207008"/>
            <a:ext cx="1645920" cy="729234"/>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2 years</a:t>
            </a:r>
            <a:endParaRPr lang="en-US" sz="3000" dirty="0"/>
          </a:p>
        </p:txBody>
      </p:sp>
      <p:sp>
        <p:nvSpPr>
          <p:cNvPr id="8" name="Stat label"/>
          <p:cNvSpPr txBox="1"/>
          <p:nvPr/>
        </p:nvSpPr>
        <p:spPr>
          <a:xfrm>
            <a:off x="2697480" y="1919326"/>
            <a:ext cx="1645920" cy="424282"/>
          </a:xfrm>
          <a:prstGeom prst="rect">
            <a:avLst/>
          </a:prstGeom>
          <a:noFill/>
          <a:ln/>
        </p:spPr>
        <p:txBody>
          <a:bodyPr wrap="square" lIns="0" tIns="0" rIns="0" bIns="0" rtlCol="0" anchor="t"/>
          <a:lstStyle/>
          <a:p>
            <a:pPr indent="0" marL="0">
              <a:buNone/>
            </a:pPr>
            <a:r>
              <a:rPr lang="en-US" sz="1200" dirty="0">
                <a:solidFill>
                  <a:schemeClr val="accent6"/>
                </a:solidFill>
              </a:rPr>
              <a:t>Daily closing prices from Yahoo Finance</a:t>
            </a:r>
            <a:endParaRPr lang="en-US" sz="1200" dirty="0"/>
          </a:p>
        </p:txBody>
      </p:sp>
      <p:sp>
        <p:nvSpPr>
          <p:cNvPr id="9" name="Stat card Trading days after cleaning"/>
          <p:cNvSpPr/>
          <p:nvPr/>
        </p:nvSpPr>
        <p:spPr>
          <a:xfrm>
            <a:off x="4663440" y="1097280"/>
            <a:ext cx="1920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Stat value"/>
          <p:cNvSpPr txBox="1"/>
          <p:nvPr/>
        </p:nvSpPr>
        <p:spPr>
          <a:xfrm>
            <a:off x="4800600" y="1207008"/>
            <a:ext cx="1645920" cy="729234"/>
          </a:xfrm>
          <a:prstGeom prst="rect">
            <a:avLst/>
          </a:prstGeom>
          <a:noFill/>
          <a:ln/>
        </p:spPr>
        <p:txBody>
          <a:bodyPr wrap="square" lIns="0" tIns="0" rIns="0" bIns="0" rtlCol="0" anchor="ctr"/>
          <a:lstStyle/>
          <a:p>
            <a:pPr indent="0" marL="0">
              <a:buNone/>
            </a:pPr>
            <a:r>
              <a:rPr lang="en-US" sz="3000" b="1" dirty="0">
                <a:solidFill>
                  <a:schemeClr val="tx1"/>
                </a:solidFill>
                <a:highlight>
                  <a:srgbClr val="FFFF00"/>
                </a:highlight>
                <a:latin typeface="Cambria" pitchFamily="34" charset="0"/>
                <a:ea typeface="Cambria" pitchFamily="34" charset="-122"/>
                <a:cs typeface="Cambria" pitchFamily="34" charset="-120"/>
              </a:rPr>
              <a:t>[N]</a:t>
            </a:r>
            <a:endParaRPr lang="en-US" sz="3000" dirty="0"/>
          </a:p>
        </p:txBody>
      </p:sp>
      <p:sp>
        <p:nvSpPr>
          <p:cNvPr id="11" name="Stat label"/>
          <p:cNvSpPr txBox="1"/>
          <p:nvPr/>
        </p:nvSpPr>
        <p:spPr>
          <a:xfrm>
            <a:off x="4800600" y="1919326"/>
            <a:ext cx="1645920" cy="424282"/>
          </a:xfrm>
          <a:prstGeom prst="rect">
            <a:avLst/>
          </a:prstGeom>
          <a:noFill/>
          <a:ln/>
        </p:spPr>
        <p:txBody>
          <a:bodyPr wrap="square" lIns="0" tIns="0" rIns="0" bIns="0" rtlCol="0" anchor="t"/>
          <a:lstStyle/>
          <a:p>
            <a:pPr indent="0" marL="0">
              <a:buNone/>
            </a:pPr>
            <a:r>
              <a:rPr lang="en-US" sz="1200" dirty="0">
                <a:solidFill>
                  <a:schemeClr val="accent6"/>
                </a:solidFill>
              </a:rPr>
              <a:t>Trading days after cleaning</a:t>
            </a:r>
            <a:endParaRPr lang="en-US" sz="1200" dirty="0"/>
          </a:p>
        </p:txBody>
      </p:sp>
      <p:sp>
        <p:nvSpPr>
          <p:cNvPr id="12" name="Stat card Train / test split by time, no shuffling"/>
          <p:cNvSpPr/>
          <p:nvPr/>
        </p:nvSpPr>
        <p:spPr>
          <a:xfrm>
            <a:off x="6766560" y="1097280"/>
            <a:ext cx="1920240" cy="1325880"/>
          </a:xfrm>
          <a:prstGeom prst="roundRect">
            <a:avLst>
              <a:gd name="adj" fmla="val 55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Stat value"/>
          <p:cNvSpPr txBox="1"/>
          <p:nvPr/>
        </p:nvSpPr>
        <p:spPr>
          <a:xfrm>
            <a:off x="6903720" y="1207008"/>
            <a:ext cx="1645920" cy="729234"/>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80 / 20</a:t>
            </a:r>
            <a:endParaRPr lang="en-US" sz="3000" dirty="0"/>
          </a:p>
        </p:txBody>
      </p:sp>
      <p:sp>
        <p:nvSpPr>
          <p:cNvPr id="14" name="Stat label"/>
          <p:cNvSpPr txBox="1"/>
          <p:nvPr/>
        </p:nvSpPr>
        <p:spPr>
          <a:xfrm>
            <a:off x="6903720" y="1919326"/>
            <a:ext cx="1645920" cy="424282"/>
          </a:xfrm>
          <a:prstGeom prst="rect">
            <a:avLst/>
          </a:prstGeom>
          <a:noFill/>
          <a:ln/>
        </p:spPr>
        <p:txBody>
          <a:bodyPr wrap="square" lIns="0" tIns="0" rIns="0" bIns="0" rtlCol="0" anchor="t"/>
          <a:lstStyle/>
          <a:p>
            <a:pPr indent="0" marL="0">
              <a:buNone/>
            </a:pPr>
            <a:r>
              <a:rPr lang="en-US" sz="1200" dirty="0">
                <a:solidFill>
                  <a:schemeClr val="accent6"/>
                </a:solidFill>
              </a:rPr>
              <a:t>Train / test split by time, no shuffling</a:t>
            </a:r>
            <a:endParaRPr lang="en-US" sz="1200" dirty="0"/>
          </a:p>
        </p:txBody>
      </p:sp>
      <p:sp>
        <p:nvSpPr>
          <p:cNvPr id="15" name="Text 13"/>
          <p:cNvSpPr txBox="1"/>
          <p:nvPr/>
        </p:nvSpPr>
        <p:spPr>
          <a:xfrm>
            <a:off x="457200" y="2743200"/>
            <a:ext cx="8229600" cy="365760"/>
          </a:xfrm>
          <a:prstGeom prst="rect">
            <a:avLst/>
          </a:prstGeom>
          <a:noFill/>
          <a:ln/>
        </p:spPr>
        <p:txBody>
          <a:bodyPr wrap="square" lIns="0" tIns="0" rIns="0" bIns="0" rtlCol="0" anchor="ctr"/>
          <a:lstStyle/>
          <a:p>
            <a:pPr indent="0" marL="0">
              <a:buNone/>
            </a:pPr>
            <a:r>
              <a:rPr lang="en-US" sz="1600" b="1" dirty="0">
                <a:solidFill>
                  <a:schemeClr val="tx2"/>
                </a:solidFill>
              </a:rPr>
              <a:t>Built with</a:t>
            </a:r>
            <a:endParaRPr lang="en-US" sz="1600" dirty="0"/>
          </a:p>
        </p:txBody>
      </p:sp>
      <p:sp>
        <p:nvSpPr>
          <p:cNvPr id="16" name="Tool chip Python"/>
          <p:cNvSpPr/>
          <p:nvPr/>
        </p:nvSpPr>
        <p:spPr>
          <a:xfrm>
            <a:off x="457200" y="3200400"/>
            <a:ext cx="1874520" cy="457200"/>
          </a:xfrm>
          <a:prstGeom prst="roundRect">
            <a:avLst>
              <a:gd name="adj" fmla="val 50000"/>
            </a:avLst>
          </a:prstGeom>
          <a:solidFill>
            <a:schemeClr val="bg2"/>
          </a:solidFill>
          <a:ln w="12700">
            <a:solidFill>
              <a:schemeClr val="accent5"/>
            </a:solidFill>
            <a:prstDash val="solid"/>
          </a:ln>
        </p:spPr>
      </p:sp>
      <p:sp>
        <p:nvSpPr>
          <p:cNvPr id="17" name="Text 15"/>
          <p:cNvSpPr txBox="1"/>
          <p:nvPr/>
        </p:nvSpPr>
        <p:spPr>
          <a:xfrm>
            <a:off x="457200" y="3200400"/>
            <a:ext cx="1874520" cy="457200"/>
          </a:xfrm>
          <a:prstGeom prst="rect">
            <a:avLst/>
          </a:prstGeom>
          <a:noFill/>
          <a:ln/>
        </p:spPr>
        <p:txBody>
          <a:bodyPr wrap="square" rtlCol="0" anchor="ctr"/>
          <a:lstStyle/>
          <a:p>
            <a:pPr algn="ctr" indent="0" marL="0">
              <a:buNone/>
            </a:pPr>
            <a:r>
              <a:rPr lang="en-US" sz="1400" dirty="0">
                <a:solidFill>
                  <a:schemeClr val="tx2"/>
                </a:solidFill>
              </a:rPr>
              <a:t>Python</a:t>
            </a:r>
            <a:endParaRPr lang="en-US" sz="1400" dirty="0"/>
          </a:p>
        </p:txBody>
      </p:sp>
      <p:sp>
        <p:nvSpPr>
          <p:cNvPr id="18" name="Tool chip pandas"/>
          <p:cNvSpPr/>
          <p:nvPr/>
        </p:nvSpPr>
        <p:spPr>
          <a:xfrm>
            <a:off x="2560320" y="3200400"/>
            <a:ext cx="1874520" cy="457200"/>
          </a:xfrm>
          <a:prstGeom prst="roundRect">
            <a:avLst>
              <a:gd name="adj" fmla="val 50000"/>
            </a:avLst>
          </a:prstGeom>
          <a:solidFill>
            <a:schemeClr val="bg2"/>
          </a:solidFill>
          <a:ln w="12700">
            <a:solidFill>
              <a:schemeClr val="accent5"/>
            </a:solidFill>
            <a:prstDash val="solid"/>
          </a:ln>
        </p:spPr>
      </p:sp>
      <p:sp>
        <p:nvSpPr>
          <p:cNvPr id="19" name="Text 17"/>
          <p:cNvSpPr txBox="1"/>
          <p:nvPr/>
        </p:nvSpPr>
        <p:spPr>
          <a:xfrm>
            <a:off x="2560320" y="3200400"/>
            <a:ext cx="1874520" cy="457200"/>
          </a:xfrm>
          <a:prstGeom prst="rect">
            <a:avLst/>
          </a:prstGeom>
          <a:noFill/>
          <a:ln/>
        </p:spPr>
        <p:txBody>
          <a:bodyPr wrap="square" rtlCol="0" anchor="ctr"/>
          <a:lstStyle/>
          <a:p>
            <a:pPr algn="ctr" indent="0" marL="0">
              <a:buNone/>
            </a:pPr>
            <a:r>
              <a:rPr lang="en-US" sz="1400" dirty="0">
                <a:solidFill>
                  <a:schemeClr val="tx2"/>
                </a:solidFill>
              </a:rPr>
              <a:t>pandas</a:t>
            </a:r>
            <a:endParaRPr lang="en-US" sz="1400" dirty="0"/>
          </a:p>
        </p:txBody>
      </p:sp>
      <p:sp>
        <p:nvSpPr>
          <p:cNvPr id="20" name="Tool chip NumPy"/>
          <p:cNvSpPr/>
          <p:nvPr/>
        </p:nvSpPr>
        <p:spPr>
          <a:xfrm>
            <a:off x="4663440" y="3200400"/>
            <a:ext cx="1874520" cy="457200"/>
          </a:xfrm>
          <a:prstGeom prst="roundRect">
            <a:avLst>
              <a:gd name="adj" fmla="val 50000"/>
            </a:avLst>
          </a:prstGeom>
          <a:solidFill>
            <a:schemeClr val="bg2"/>
          </a:solidFill>
          <a:ln w="12700">
            <a:solidFill>
              <a:schemeClr val="accent5"/>
            </a:solidFill>
            <a:prstDash val="solid"/>
          </a:ln>
        </p:spPr>
      </p:sp>
      <p:sp>
        <p:nvSpPr>
          <p:cNvPr id="21" name="Text 19"/>
          <p:cNvSpPr txBox="1"/>
          <p:nvPr/>
        </p:nvSpPr>
        <p:spPr>
          <a:xfrm>
            <a:off x="4663440" y="3200400"/>
            <a:ext cx="1874520" cy="457200"/>
          </a:xfrm>
          <a:prstGeom prst="rect">
            <a:avLst/>
          </a:prstGeom>
          <a:noFill/>
          <a:ln/>
        </p:spPr>
        <p:txBody>
          <a:bodyPr wrap="square" rtlCol="0" anchor="ctr"/>
          <a:lstStyle/>
          <a:p>
            <a:pPr algn="ctr" indent="0" marL="0">
              <a:buNone/>
            </a:pPr>
            <a:r>
              <a:rPr lang="en-US" sz="1400" dirty="0">
                <a:solidFill>
                  <a:schemeClr val="tx2"/>
                </a:solidFill>
              </a:rPr>
              <a:t>NumPy</a:t>
            </a:r>
            <a:endParaRPr lang="en-US" sz="1400" dirty="0"/>
          </a:p>
        </p:txBody>
      </p:sp>
      <p:sp>
        <p:nvSpPr>
          <p:cNvPr id="22" name="Tool chip Matplotlib"/>
          <p:cNvSpPr/>
          <p:nvPr/>
        </p:nvSpPr>
        <p:spPr>
          <a:xfrm>
            <a:off x="6766560" y="3200400"/>
            <a:ext cx="1874520" cy="457200"/>
          </a:xfrm>
          <a:prstGeom prst="roundRect">
            <a:avLst>
              <a:gd name="adj" fmla="val 50000"/>
            </a:avLst>
          </a:prstGeom>
          <a:solidFill>
            <a:schemeClr val="bg2"/>
          </a:solidFill>
          <a:ln w="12700">
            <a:solidFill>
              <a:schemeClr val="accent5"/>
            </a:solidFill>
            <a:prstDash val="solid"/>
          </a:ln>
        </p:spPr>
      </p:sp>
      <p:sp>
        <p:nvSpPr>
          <p:cNvPr id="23" name="Text 21"/>
          <p:cNvSpPr txBox="1"/>
          <p:nvPr/>
        </p:nvSpPr>
        <p:spPr>
          <a:xfrm>
            <a:off x="6766560" y="3200400"/>
            <a:ext cx="1874520" cy="457200"/>
          </a:xfrm>
          <a:prstGeom prst="rect">
            <a:avLst/>
          </a:prstGeom>
          <a:noFill/>
          <a:ln/>
        </p:spPr>
        <p:txBody>
          <a:bodyPr wrap="square" rtlCol="0" anchor="ctr"/>
          <a:lstStyle/>
          <a:p>
            <a:pPr algn="ctr" indent="0" marL="0">
              <a:buNone/>
            </a:pPr>
            <a:r>
              <a:rPr lang="en-US" sz="1400" dirty="0">
                <a:solidFill>
                  <a:schemeClr val="tx2"/>
                </a:solidFill>
              </a:rPr>
              <a:t>Matplotlib</a:t>
            </a:r>
            <a:endParaRPr lang="en-US" sz="1400" dirty="0"/>
          </a:p>
        </p:txBody>
      </p:sp>
      <p:sp>
        <p:nvSpPr>
          <p:cNvPr id="24" name="Tool chip scikit-learn"/>
          <p:cNvSpPr/>
          <p:nvPr/>
        </p:nvSpPr>
        <p:spPr>
          <a:xfrm>
            <a:off x="457200" y="3840480"/>
            <a:ext cx="1874520" cy="457200"/>
          </a:xfrm>
          <a:prstGeom prst="roundRect">
            <a:avLst>
              <a:gd name="adj" fmla="val 50000"/>
            </a:avLst>
          </a:prstGeom>
          <a:solidFill>
            <a:schemeClr val="bg2"/>
          </a:solidFill>
          <a:ln w="12700">
            <a:solidFill>
              <a:schemeClr val="accent5"/>
            </a:solidFill>
            <a:prstDash val="solid"/>
          </a:ln>
        </p:spPr>
      </p:sp>
      <p:sp>
        <p:nvSpPr>
          <p:cNvPr id="25" name="Text 23"/>
          <p:cNvSpPr txBox="1"/>
          <p:nvPr/>
        </p:nvSpPr>
        <p:spPr>
          <a:xfrm>
            <a:off x="457200" y="3840480"/>
            <a:ext cx="1874520" cy="457200"/>
          </a:xfrm>
          <a:prstGeom prst="rect">
            <a:avLst/>
          </a:prstGeom>
          <a:noFill/>
          <a:ln/>
        </p:spPr>
        <p:txBody>
          <a:bodyPr wrap="square" rtlCol="0" anchor="ctr"/>
          <a:lstStyle/>
          <a:p>
            <a:pPr algn="ctr" indent="0" marL="0">
              <a:buNone/>
            </a:pPr>
            <a:r>
              <a:rPr lang="en-US" sz="1400" dirty="0">
                <a:solidFill>
                  <a:schemeClr val="tx2"/>
                </a:solidFill>
              </a:rPr>
              <a:t>scikit-learn</a:t>
            </a:r>
            <a:endParaRPr lang="en-US" sz="1400" dirty="0"/>
          </a:p>
        </p:txBody>
      </p:sp>
      <p:sp>
        <p:nvSpPr>
          <p:cNvPr id="26" name="Tool chip SciPy"/>
          <p:cNvSpPr/>
          <p:nvPr/>
        </p:nvSpPr>
        <p:spPr>
          <a:xfrm>
            <a:off x="2560320" y="3840480"/>
            <a:ext cx="1874520" cy="457200"/>
          </a:xfrm>
          <a:prstGeom prst="roundRect">
            <a:avLst>
              <a:gd name="adj" fmla="val 50000"/>
            </a:avLst>
          </a:prstGeom>
          <a:solidFill>
            <a:schemeClr val="bg2"/>
          </a:solidFill>
          <a:ln w="12700">
            <a:solidFill>
              <a:schemeClr val="accent5"/>
            </a:solidFill>
            <a:prstDash val="solid"/>
          </a:ln>
        </p:spPr>
      </p:sp>
      <p:sp>
        <p:nvSpPr>
          <p:cNvPr id="27" name="Text 25"/>
          <p:cNvSpPr txBox="1"/>
          <p:nvPr/>
        </p:nvSpPr>
        <p:spPr>
          <a:xfrm>
            <a:off x="2560320" y="3840480"/>
            <a:ext cx="1874520" cy="457200"/>
          </a:xfrm>
          <a:prstGeom prst="rect">
            <a:avLst/>
          </a:prstGeom>
          <a:noFill/>
          <a:ln/>
        </p:spPr>
        <p:txBody>
          <a:bodyPr wrap="square" rtlCol="0" anchor="ctr"/>
          <a:lstStyle/>
          <a:p>
            <a:pPr algn="ctr" indent="0" marL="0">
              <a:buNone/>
            </a:pPr>
            <a:r>
              <a:rPr lang="en-US" sz="1400" dirty="0">
                <a:solidFill>
                  <a:schemeClr val="tx2"/>
                </a:solidFill>
              </a:rPr>
              <a:t>SciPy</a:t>
            </a:r>
            <a:endParaRPr lang="en-US" sz="1400" dirty="0"/>
          </a:p>
        </p:txBody>
      </p:sp>
      <p:sp>
        <p:nvSpPr>
          <p:cNvPr id="28" name="Tool chip yfinance"/>
          <p:cNvSpPr/>
          <p:nvPr/>
        </p:nvSpPr>
        <p:spPr>
          <a:xfrm>
            <a:off x="4663440" y="3840480"/>
            <a:ext cx="1874520" cy="457200"/>
          </a:xfrm>
          <a:prstGeom prst="roundRect">
            <a:avLst>
              <a:gd name="adj" fmla="val 50000"/>
            </a:avLst>
          </a:prstGeom>
          <a:solidFill>
            <a:schemeClr val="bg2"/>
          </a:solidFill>
          <a:ln w="12700">
            <a:solidFill>
              <a:schemeClr val="accent5"/>
            </a:solidFill>
            <a:prstDash val="solid"/>
          </a:ln>
        </p:spPr>
      </p:sp>
      <p:sp>
        <p:nvSpPr>
          <p:cNvPr id="29" name="Text 27"/>
          <p:cNvSpPr txBox="1"/>
          <p:nvPr/>
        </p:nvSpPr>
        <p:spPr>
          <a:xfrm>
            <a:off x="4663440" y="3840480"/>
            <a:ext cx="1874520" cy="457200"/>
          </a:xfrm>
          <a:prstGeom prst="rect">
            <a:avLst/>
          </a:prstGeom>
          <a:noFill/>
          <a:ln/>
        </p:spPr>
        <p:txBody>
          <a:bodyPr wrap="square" rtlCol="0" anchor="ctr"/>
          <a:lstStyle/>
          <a:p>
            <a:pPr algn="ctr" indent="0" marL="0">
              <a:buNone/>
            </a:pPr>
            <a:r>
              <a:rPr lang="en-US" sz="1400" dirty="0">
                <a:solidFill>
                  <a:schemeClr val="tx2"/>
                </a:solidFill>
              </a:rPr>
              <a:t>yfinance</a:t>
            </a:r>
            <a:endParaRPr lang="en-US" sz="1400" dirty="0"/>
          </a:p>
        </p:txBody>
      </p:sp>
      <p:sp>
        <p:nvSpPr>
          <p:cNvPr id="30" name="Tool chip tkinter"/>
          <p:cNvSpPr/>
          <p:nvPr/>
        </p:nvSpPr>
        <p:spPr>
          <a:xfrm>
            <a:off x="6766560" y="3840480"/>
            <a:ext cx="1874520" cy="457200"/>
          </a:xfrm>
          <a:prstGeom prst="roundRect">
            <a:avLst>
              <a:gd name="adj" fmla="val 50000"/>
            </a:avLst>
          </a:prstGeom>
          <a:solidFill>
            <a:schemeClr val="bg2"/>
          </a:solidFill>
          <a:ln w="12700">
            <a:solidFill>
              <a:schemeClr val="accent5"/>
            </a:solidFill>
            <a:prstDash val="solid"/>
          </a:ln>
        </p:spPr>
      </p:sp>
      <p:sp>
        <p:nvSpPr>
          <p:cNvPr id="31" name="Text 29"/>
          <p:cNvSpPr txBox="1"/>
          <p:nvPr/>
        </p:nvSpPr>
        <p:spPr>
          <a:xfrm>
            <a:off x="6766560" y="3840480"/>
            <a:ext cx="1874520" cy="457200"/>
          </a:xfrm>
          <a:prstGeom prst="rect">
            <a:avLst/>
          </a:prstGeom>
          <a:noFill/>
          <a:ln/>
        </p:spPr>
        <p:txBody>
          <a:bodyPr wrap="square" rtlCol="0" anchor="ctr"/>
          <a:lstStyle/>
          <a:p>
            <a:pPr algn="ctr" indent="0" marL="0">
              <a:buNone/>
            </a:pPr>
            <a:r>
              <a:rPr lang="en-US" sz="1400" dirty="0">
                <a:solidFill>
                  <a:schemeClr val="tx2"/>
                </a:solidFill>
              </a:rPr>
              <a:t>tkinter</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Seven-step workflow</a:t>
            </a:r>
            <a:endParaRPr lang="en-US" sz="3000" dirty="0"/>
          </a:p>
        </p:txBody>
      </p:sp>
      <p:sp>
        <p:nvSpPr>
          <p:cNvPr id="3" name="Workflow line"/>
          <p:cNvSpPr/>
          <p:nvPr/>
        </p:nvSpPr>
        <p:spPr>
          <a:xfrm>
            <a:off x="1045029" y="1874520"/>
            <a:ext cx="7053943" cy="0"/>
          </a:xfrm>
          <a:prstGeom prst="line">
            <a:avLst/>
          </a:prstGeom>
          <a:noFill/>
          <a:ln w="25400">
            <a:solidFill>
              <a:schemeClr val="accent5"/>
            </a:solidFill>
            <a:prstDash val="solid"/>
          </a:ln>
        </p:spPr>
      </p:sp>
      <p:sp>
        <p:nvSpPr>
          <p:cNvPr id="4" name="Step circle 1"/>
          <p:cNvSpPr/>
          <p:nvPr/>
        </p:nvSpPr>
        <p:spPr>
          <a:xfrm>
            <a:off x="724989" y="1554480"/>
            <a:ext cx="640080" cy="640080"/>
          </a:xfrm>
          <a:prstGeom prst="ellipse">
            <a:avLst/>
          </a:prstGeom>
          <a:solidFill>
            <a:schemeClr val="accent1"/>
          </a:solidFill>
          <a:ln w="25400">
            <a:solidFill>
              <a:schemeClr val="bg1"/>
            </a:solidFill>
            <a:prstDash val="solid"/>
          </a:ln>
        </p:spPr>
      </p:sp>
      <p:sp>
        <p:nvSpPr>
          <p:cNvPr id="5" name="Text 3"/>
          <p:cNvSpPr txBox="1"/>
          <p:nvPr/>
        </p:nvSpPr>
        <p:spPr>
          <a:xfrm>
            <a:off x="724989"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484632"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Collect &amp; clean</a:t>
            </a:r>
            <a:endParaRPr lang="en-US" sz="1400" dirty="0"/>
          </a:p>
          <a:p>
            <a:pPr algn="ctr" indent="0" marL="0">
              <a:buNone/>
            </a:pPr>
            <a:r>
              <a:rPr lang="en-US" sz="1100" dirty="0">
                <a:solidFill>
                  <a:schemeClr val="accent6"/>
                </a:solidFill>
              </a:rPr>
              <a:t>Step 1</a:t>
            </a:r>
            <a:endParaRPr lang="en-US" sz="1400" dirty="0"/>
          </a:p>
        </p:txBody>
      </p:sp>
      <p:sp>
        <p:nvSpPr>
          <p:cNvPr id="7" name="Step circle 2"/>
          <p:cNvSpPr/>
          <p:nvPr/>
        </p:nvSpPr>
        <p:spPr>
          <a:xfrm>
            <a:off x="1900646" y="1554480"/>
            <a:ext cx="640080" cy="640080"/>
          </a:xfrm>
          <a:prstGeom prst="ellipse">
            <a:avLst/>
          </a:prstGeom>
          <a:solidFill>
            <a:schemeClr val="accent1"/>
          </a:solidFill>
          <a:ln w="25400">
            <a:solidFill>
              <a:schemeClr val="bg1"/>
            </a:solidFill>
            <a:prstDash val="solid"/>
          </a:ln>
        </p:spPr>
      </p:sp>
      <p:sp>
        <p:nvSpPr>
          <p:cNvPr id="8" name="Text 6"/>
          <p:cNvSpPr txBox="1"/>
          <p:nvPr/>
        </p:nvSpPr>
        <p:spPr>
          <a:xfrm>
            <a:off x="1900646"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9" name="Text 7"/>
          <p:cNvSpPr txBox="1"/>
          <p:nvPr/>
        </p:nvSpPr>
        <p:spPr>
          <a:xfrm>
            <a:off x="1660289"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Describe</a:t>
            </a:r>
            <a:endParaRPr lang="en-US" sz="1400" dirty="0"/>
          </a:p>
          <a:p>
            <a:pPr algn="ctr" indent="0" marL="0">
              <a:buNone/>
            </a:pPr>
            <a:r>
              <a:rPr lang="en-US" sz="1100" dirty="0">
                <a:solidFill>
                  <a:schemeClr val="accent6"/>
                </a:solidFill>
              </a:rPr>
              <a:t>Unit IV</a:t>
            </a:r>
            <a:endParaRPr lang="en-US" sz="1400" dirty="0"/>
          </a:p>
        </p:txBody>
      </p:sp>
      <p:sp>
        <p:nvSpPr>
          <p:cNvPr id="10" name="Step circle 3"/>
          <p:cNvSpPr/>
          <p:nvPr/>
        </p:nvSpPr>
        <p:spPr>
          <a:xfrm>
            <a:off x="3076303" y="1554480"/>
            <a:ext cx="640080" cy="640080"/>
          </a:xfrm>
          <a:prstGeom prst="ellipse">
            <a:avLst/>
          </a:prstGeom>
          <a:solidFill>
            <a:schemeClr val="accent1"/>
          </a:solidFill>
          <a:ln w="25400">
            <a:solidFill>
              <a:schemeClr val="bg1"/>
            </a:solidFill>
            <a:prstDash val="solid"/>
          </a:ln>
        </p:spPr>
      </p:sp>
      <p:sp>
        <p:nvSpPr>
          <p:cNvPr id="11" name="Text 9"/>
          <p:cNvSpPr txBox="1"/>
          <p:nvPr/>
        </p:nvSpPr>
        <p:spPr>
          <a:xfrm>
            <a:off x="3076303"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Text 10"/>
          <p:cNvSpPr txBox="1"/>
          <p:nvPr/>
        </p:nvSpPr>
        <p:spPr>
          <a:xfrm>
            <a:off x="2835946"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Measure trend</a:t>
            </a:r>
            <a:endParaRPr lang="en-US" sz="1400" dirty="0"/>
          </a:p>
          <a:p>
            <a:pPr algn="ctr" indent="0" marL="0">
              <a:buNone/>
            </a:pPr>
            <a:r>
              <a:rPr lang="en-US" sz="1100" dirty="0">
                <a:solidFill>
                  <a:schemeClr val="accent6"/>
                </a:solidFill>
              </a:rPr>
              <a:t>Unit IV</a:t>
            </a:r>
            <a:endParaRPr lang="en-US" sz="1400" dirty="0"/>
          </a:p>
        </p:txBody>
      </p:sp>
      <p:sp>
        <p:nvSpPr>
          <p:cNvPr id="13" name="Step circle 4"/>
          <p:cNvSpPr/>
          <p:nvPr/>
        </p:nvSpPr>
        <p:spPr>
          <a:xfrm>
            <a:off x="4251960" y="1554480"/>
            <a:ext cx="640080" cy="640080"/>
          </a:xfrm>
          <a:prstGeom prst="ellipse">
            <a:avLst/>
          </a:prstGeom>
          <a:solidFill>
            <a:schemeClr val="accent1"/>
          </a:solidFill>
          <a:ln w="25400">
            <a:solidFill>
              <a:schemeClr val="bg1"/>
            </a:solidFill>
            <a:prstDash val="solid"/>
          </a:ln>
        </p:spPr>
      </p:sp>
      <p:sp>
        <p:nvSpPr>
          <p:cNvPr id="14" name="Text 12"/>
          <p:cNvSpPr txBox="1"/>
          <p:nvPr/>
        </p:nvSpPr>
        <p:spPr>
          <a:xfrm>
            <a:off x="4251960"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5" name="Text 13"/>
          <p:cNvSpPr txBox="1"/>
          <p:nvPr/>
        </p:nvSpPr>
        <p:spPr>
          <a:xfrm>
            <a:off x="4011603"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Returns ~ Normal</a:t>
            </a:r>
            <a:endParaRPr lang="en-US" sz="1400" dirty="0"/>
          </a:p>
          <a:p>
            <a:pPr algn="ctr" indent="0" marL="0">
              <a:buNone/>
            </a:pPr>
            <a:r>
              <a:rPr lang="en-US" sz="1100" dirty="0">
                <a:solidFill>
                  <a:schemeClr val="accent6"/>
                </a:solidFill>
              </a:rPr>
              <a:t>Unit III · CO3</a:t>
            </a:r>
            <a:endParaRPr lang="en-US" sz="1400" dirty="0"/>
          </a:p>
        </p:txBody>
      </p:sp>
      <p:sp>
        <p:nvSpPr>
          <p:cNvPr id="16" name="Step circle 5"/>
          <p:cNvSpPr/>
          <p:nvPr/>
        </p:nvSpPr>
        <p:spPr>
          <a:xfrm>
            <a:off x="5427617" y="1554480"/>
            <a:ext cx="640080" cy="640080"/>
          </a:xfrm>
          <a:prstGeom prst="ellipse">
            <a:avLst/>
          </a:prstGeom>
          <a:solidFill>
            <a:schemeClr val="accent1"/>
          </a:solidFill>
          <a:ln w="25400">
            <a:solidFill>
              <a:schemeClr val="bg1"/>
            </a:solidFill>
            <a:prstDash val="solid"/>
          </a:ln>
        </p:spPr>
      </p:sp>
      <p:sp>
        <p:nvSpPr>
          <p:cNvPr id="17" name="Text 15"/>
          <p:cNvSpPr txBox="1"/>
          <p:nvPr/>
        </p:nvSpPr>
        <p:spPr>
          <a:xfrm>
            <a:off x="5427617"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18" name="Text 16"/>
          <p:cNvSpPr txBox="1"/>
          <p:nvPr/>
        </p:nvSpPr>
        <p:spPr>
          <a:xfrm>
            <a:off x="5187261"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Fit degrees 1–6</a:t>
            </a:r>
            <a:endParaRPr lang="en-US" sz="1400" dirty="0"/>
          </a:p>
          <a:p>
            <a:pPr algn="ctr" indent="0" marL="0">
              <a:buNone/>
            </a:pPr>
            <a:r>
              <a:rPr lang="en-US" sz="1100" dirty="0">
                <a:solidFill>
                  <a:schemeClr val="accent6"/>
                </a:solidFill>
              </a:rPr>
              <a:t>Unit IV · CO4</a:t>
            </a:r>
            <a:endParaRPr lang="en-US" sz="1400" dirty="0"/>
          </a:p>
        </p:txBody>
      </p:sp>
      <p:sp>
        <p:nvSpPr>
          <p:cNvPr id="19" name="Step circle 6"/>
          <p:cNvSpPr/>
          <p:nvPr/>
        </p:nvSpPr>
        <p:spPr>
          <a:xfrm>
            <a:off x="6603274" y="1554480"/>
            <a:ext cx="640080" cy="640080"/>
          </a:xfrm>
          <a:prstGeom prst="ellipse">
            <a:avLst/>
          </a:prstGeom>
          <a:solidFill>
            <a:schemeClr val="accent1"/>
          </a:solidFill>
          <a:ln w="25400">
            <a:solidFill>
              <a:schemeClr val="bg1"/>
            </a:solidFill>
            <a:prstDash val="solid"/>
          </a:ln>
        </p:spPr>
      </p:sp>
      <p:sp>
        <p:nvSpPr>
          <p:cNvPr id="20" name="Text 18"/>
          <p:cNvSpPr txBox="1"/>
          <p:nvPr/>
        </p:nvSpPr>
        <p:spPr>
          <a:xfrm>
            <a:off x="6603274"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1" name="Text 19"/>
          <p:cNvSpPr txBox="1"/>
          <p:nvPr/>
        </p:nvSpPr>
        <p:spPr>
          <a:xfrm>
            <a:off x="6362918"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Forecast ±1.96σ</a:t>
            </a:r>
            <a:endParaRPr lang="en-US" sz="1400" dirty="0"/>
          </a:p>
          <a:p>
            <a:pPr algn="ctr" indent="0" marL="0">
              <a:buNone/>
            </a:pPr>
            <a:r>
              <a:rPr lang="en-US" sz="1100" dirty="0">
                <a:solidFill>
                  <a:schemeClr val="accent6"/>
                </a:solidFill>
              </a:rPr>
              <a:t>CO3</a:t>
            </a:r>
            <a:endParaRPr lang="en-US" sz="1400" dirty="0"/>
          </a:p>
        </p:txBody>
      </p:sp>
      <p:sp>
        <p:nvSpPr>
          <p:cNvPr id="22" name="Step circle 7"/>
          <p:cNvSpPr/>
          <p:nvPr/>
        </p:nvSpPr>
        <p:spPr>
          <a:xfrm>
            <a:off x="7778931" y="1554480"/>
            <a:ext cx="640080" cy="640080"/>
          </a:xfrm>
          <a:prstGeom prst="ellipse">
            <a:avLst/>
          </a:prstGeom>
          <a:solidFill>
            <a:schemeClr val="accent2"/>
          </a:solidFill>
          <a:ln w="25400">
            <a:solidFill>
              <a:schemeClr val="bg1"/>
            </a:solidFill>
            <a:prstDash val="solid"/>
          </a:ln>
        </p:spPr>
      </p:sp>
      <p:sp>
        <p:nvSpPr>
          <p:cNvPr id="23" name="Text 21"/>
          <p:cNvSpPr txBox="1"/>
          <p:nvPr/>
        </p:nvSpPr>
        <p:spPr>
          <a:xfrm>
            <a:off x="7778931" y="1554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24" name="Text 22"/>
          <p:cNvSpPr txBox="1"/>
          <p:nvPr/>
        </p:nvSpPr>
        <p:spPr>
          <a:xfrm>
            <a:off x="7538575" y="2377440"/>
            <a:ext cx="1120793" cy="914400"/>
          </a:xfrm>
          <a:prstGeom prst="rect">
            <a:avLst/>
          </a:prstGeom>
          <a:noFill/>
          <a:ln/>
        </p:spPr>
        <p:txBody>
          <a:bodyPr wrap="square" lIns="0" tIns="0" rIns="0" bIns="0" rtlCol="0" anchor="t"/>
          <a:lstStyle/>
          <a:p>
            <a:pPr algn="ctr" indent="0" marL="0">
              <a:buNone/>
            </a:pPr>
            <a:r>
              <a:rPr lang="en-US" sz="1400" b="1" dirty="0">
                <a:solidFill>
                  <a:schemeClr val="tx1"/>
                </a:solidFill>
              </a:rPr>
              <a:t>Validate: 5 tests</a:t>
            </a:r>
            <a:endParaRPr lang="en-US" sz="1400" dirty="0"/>
          </a:p>
          <a:p>
            <a:pPr algn="ctr" indent="0" marL="0">
              <a:buNone/>
            </a:pPr>
            <a:r>
              <a:rPr lang="en-US" sz="1100" dirty="0">
                <a:solidFill>
                  <a:schemeClr val="accent6"/>
                </a:solidFill>
              </a:rPr>
              <a:t>Unit V · CO5</a:t>
            </a:r>
            <a:endParaRPr lang="en-US" sz="1400" dirty="0"/>
          </a:p>
        </p:txBody>
      </p:sp>
      <p:sp>
        <p:nvSpPr>
          <p:cNvPr id="25" name="Run card"/>
          <p:cNvSpPr/>
          <p:nvPr/>
        </p:nvSpPr>
        <p:spPr>
          <a:xfrm>
            <a:off x="457200" y="3520440"/>
            <a:ext cx="82296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Text 24"/>
          <p:cNvSpPr txBox="1"/>
          <p:nvPr/>
        </p:nvSpPr>
        <p:spPr>
          <a:xfrm>
            <a:off x="685800" y="3520440"/>
            <a:ext cx="7772400" cy="960120"/>
          </a:xfrm>
          <a:prstGeom prst="rect">
            <a:avLst/>
          </a:prstGeom>
          <a:noFill/>
          <a:ln/>
        </p:spPr>
        <p:txBody>
          <a:bodyPr wrap="square" rtlCol="0" anchor="ctr"/>
          <a:lstStyle/>
          <a:p>
            <a:pPr indent="0" marL="0">
              <a:buNone/>
            </a:pPr>
            <a:r>
              <a:rPr lang="en-US" sz="1500" b="1" dirty="0">
                <a:solidFill>
                  <a:schemeClr val="tx2"/>
                </a:solidFill>
              </a:rPr>
              <a:t>Run everything:  </a:t>
            </a:r>
            <a:pPr indent="0" marL="0">
              <a:buNone/>
            </a:pPr>
            <a:r>
              <a:rPr lang="en-US" sz="1500" b="1" dirty="0">
                <a:solidFill>
                  <a:schemeClr val="accent3"/>
                </a:solidFill>
                <a:latin typeface="Courier New" pitchFamily="34" charset="0"/>
                <a:ea typeface="Courier New" pitchFamily="34" charset="-122"/>
                <a:cs typeface="Courier New" pitchFamily="34" charset="-120"/>
              </a:rPr>
              <a:t>python main.py</a:t>
            </a:r>
            <a:pPr indent="0" marL="0">
              <a:buNone/>
            </a:pPr>
            <a:r>
              <a:rPr lang="en-US" sz="1500" dirty="0">
                <a:solidFill>
                  <a:schemeClr val="tx1"/>
                </a:solidFill>
              </a:rPr>
              <a:t>   or the GUI:  </a:t>
            </a:r>
            <a:pPr indent="0" marL="0">
              <a:buNone/>
            </a:pPr>
            <a:r>
              <a:rPr lang="en-US" sz="1500" b="1" dirty="0">
                <a:solidFill>
                  <a:schemeClr val="accent3"/>
                </a:solidFill>
                <a:latin typeface="Courier New" pitchFamily="34" charset="0"/>
                <a:ea typeface="Courier New" pitchFamily="34" charset="-122"/>
                <a:cs typeface="Courier New" pitchFamily="34" charset="-120"/>
              </a:rPr>
              <a:t>python gui.py</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Descriptive statistics and trend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3749040" cy="914400"/>
        </p:xfrm>
        <a:graphic>
          <a:graphicData uri="http://schemas.openxmlformats.org/drawingml/2006/table">
            <a:tbl>
              <a:tblPr/>
              <a:tblGrid>
                <a:gridCol w="1554480"/>
                <a:gridCol w="1097280"/>
                <a:gridCol w="1097280"/>
              </a:tblGrid>
              <a:tr h="365760">
                <a:tc>
                  <a:txBody>
                    <a:bodyPr/>
                    <a:lstStyle/>
                    <a:p>
                      <a:pPr indent="0" marL="0">
                        <a:buNone/>
                      </a:pPr>
                      <a:r>
                        <a:rPr lang="en-US" sz="1300" b="1" dirty="0">
                          <a:solidFill>
                            <a:schemeClr val="bg1"/>
                          </a:solidFill>
                        </a:rPr>
                        <a:t>Measure</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Price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Return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rPr>
                        <a:t>Mean</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365760">
                <a:tc>
                  <a:txBody>
                    <a:bodyPr/>
                    <a:lstStyle/>
                    <a:p>
                      <a:pPr indent="0" marL="0">
                        <a:buNone/>
                      </a:pPr>
                      <a:r>
                        <a:rPr lang="en-US" sz="1300" dirty="0">
                          <a:solidFill>
                            <a:schemeClr val="tx1"/>
                          </a:solidFill>
                        </a:rPr>
                        <a:t>Median</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365760">
                <a:tc>
                  <a:txBody>
                    <a:bodyPr/>
                    <a:lstStyle/>
                    <a:p>
                      <a:pPr indent="0" marL="0">
                        <a:buNone/>
                      </a:pPr>
                      <a:r>
                        <a:rPr lang="en-US" sz="1300" dirty="0">
                          <a:solidFill>
                            <a:schemeClr val="tx1"/>
                          </a:solidFill>
                        </a:rPr>
                        <a:t>Mode (rounded)</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365760">
                <a:tc>
                  <a:txBody>
                    <a:bodyPr/>
                    <a:lstStyle/>
                    <a:p>
                      <a:pPr indent="0" marL="0">
                        <a:buNone/>
                      </a:pPr>
                      <a:r>
                        <a:rPr lang="en-US" sz="1300" dirty="0">
                          <a:solidFill>
                            <a:schemeClr val="tx1"/>
                          </a:solidFill>
                        </a:rPr>
                        <a:t>Std deviation</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bl>
          </a:graphicData>
        </a:graphic>
      </p:graphicFrame>
      <p:sp>
        <p:nvSpPr>
          <p:cNvPr id="4" name="Formula card"/>
          <p:cNvSpPr/>
          <p:nvPr/>
        </p:nvSpPr>
        <p:spPr>
          <a:xfrm>
            <a:off x="457200" y="3154680"/>
            <a:ext cx="3749040" cy="1371600"/>
          </a:xfrm>
          <a:prstGeom prst="roundRect">
            <a:avLst>
              <a:gd name="adj" fmla="val 5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3200400"/>
            <a:ext cx="3429000" cy="1280160"/>
          </a:xfrm>
          <a:prstGeom prst="rect">
            <a:avLst/>
          </a:prstGeom>
          <a:noFill/>
          <a:ln/>
        </p:spPr>
        <p:txBody>
          <a:bodyPr wrap="square" rtlCol="0" anchor="ctr"/>
          <a:lstStyle/>
          <a:p>
            <a:pPr indent="0" marL="0">
              <a:spcAft>
                <a:spcPts val="400"/>
              </a:spcAft>
              <a:buNone/>
            </a:pPr>
            <a:r>
              <a:rPr lang="en-US" sz="1600" b="1" dirty="0">
                <a:solidFill>
                  <a:schemeClr val="accent1"/>
                </a:solidFill>
              </a:rPr>
              <a:t>Formula = NumPy ✓</a:t>
            </a:r>
            <a:endParaRPr lang="en-US" sz="1600" dirty="0"/>
          </a:p>
          <a:p>
            <a:pPr indent="0" marL="0">
              <a:spcAft>
                <a:spcPts val="400"/>
              </a:spcAft>
              <a:buNone/>
            </a:pPr>
            <a:r>
              <a:rPr lang="en-US" sz="1400" dirty="0">
                <a:solidFill>
                  <a:schemeClr val="tx1"/>
                </a:solidFill>
                <a:latin typeface="Cambria" pitchFamily="34" charset="0"/>
                <a:ea typeface="Cambria" pitchFamily="34" charset="-122"/>
                <a:cs typeface="Cambria" pitchFamily="34" charset="-120"/>
              </a:rPr>
              <a:t>x̄ = Σx / n     s = √[Σ(x − x̄)² / (n − 1)]</a:t>
            </a:r>
            <a:endParaRPr lang="en-US" sz="1600" dirty="0"/>
          </a:p>
          <a:p>
            <a:pPr indent="0" marL="0">
              <a:spcAft>
                <a:spcPts val="400"/>
              </a:spcAft>
              <a:buNone/>
            </a:pPr>
            <a:r>
              <a:rPr lang="en-US" sz="1300" dirty="0">
                <a:solidFill>
                  <a:schemeClr val="accent4"/>
                </a:solidFill>
              </a:rPr>
              <a:t>Trend: freehand line and 5 / 20-day moving averages</a:t>
            </a:r>
            <a:endParaRPr lang="en-US" sz="1600" dirty="0"/>
          </a:p>
        </p:txBody>
      </p:sp>
      <p:sp>
        <p:nvSpPr>
          <p:cNvPr id="6" name="Image slot outputs/02_freehand_trend.png"/>
          <p:cNvSpPr/>
          <p:nvPr/>
        </p:nvSpPr>
        <p:spPr>
          <a:xfrm>
            <a:off x="4480560" y="1097280"/>
            <a:ext cx="4206240" cy="1645920"/>
          </a:xfrm>
          <a:prstGeom prst="rect">
            <a:avLst/>
          </a:prstGeom>
          <a:solidFill>
            <a:srgbClr val="F4F6F5"/>
          </a:solidFill>
          <a:ln w="12700">
            <a:solidFill>
              <a:srgbClr val="9AA5A0"/>
            </a:solidFill>
            <a:prstDash val="dash"/>
          </a:ln>
        </p:spPr>
      </p:sp>
      <p:sp>
        <p:nvSpPr>
          <p:cNvPr id="7" name="Image slot label"/>
          <p:cNvSpPr txBox="1"/>
          <p:nvPr/>
        </p:nvSpPr>
        <p:spPr>
          <a:xfrm>
            <a:off x="4480560" y="1097280"/>
            <a:ext cx="4206240" cy="164592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outputs/02_freehand_trend.png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8" name="Image slot outputs/03_moving_average.png"/>
          <p:cNvSpPr/>
          <p:nvPr/>
        </p:nvSpPr>
        <p:spPr>
          <a:xfrm>
            <a:off x="4480560" y="2880360"/>
            <a:ext cx="4206240" cy="1645920"/>
          </a:xfrm>
          <a:prstGeom prst="rect">
            <a:avLst/>
          </a:prstGeom>
          <a:solidFill>
            <a:srgbClr val="F4F6F5"/>
          </a:solidFill>
          <a:ln w="12700">
            <a:solidFill>
              <a:srgbClr val="9AA5A0"/>
            </a:solidFill>
            <a:prstDash val="dash"/>
          </a:ln>
        </p:spPr>
      </p:sp>
      <p:sp>
        <p:nvSpPr>
          <p:cNvPr id="9" name="Image slot label"/>
          <p:cNvSpPr txBox="1"/>
          <p:nvPr/>
        </p:nvSpPr>
        <p:spPr>
          <a:xfrm>
            <a:off x="4480560" y="2880360"/>
            <a:ext cx="4206240" cy="164592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outputs/03_moving_average.png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Daily returns follow a Normal curve</a:t>
            </a:r>
            <a:endParaRPr lang="en-US" sz="3000" dirty="0"/>
          </a:p>
        </p:txBody>
      </p:sp>
      <p:sp>
        <p:nvSpPr>
          <p:cNvPr id="3" name="Image slot outputs/04_returns_normal.png"/>
          <p:cNvSpPr/>
          <p:nvPr/>
        </p:nvSpPr>
        <p:spPr>
          <a:xfrm>
            <a:off x="457200" y="1097280"/>
            <a:ext cx="4937760" cy="3429000"/>
          </a:xfrm>
          <a:prstGeom prst="rect">
            <a:avLst/>
          </a:prstGeom>
          <a:solidFill>
            <a:srgbClr val="F4F6F5"/>
          </a:solidFill>
          <a:ln w="12700">
            <a:solidFill>
              <a:srgbClr val="9AA5A0"/>
            </a:solidFill>
            <a:prstDash val="dash"/>
          </a:ln>
        </p:spPr>
      </p:sp>
      <p:sp>
        <p:nvSpPr>
          <p:cNvPr id="4" name="Image slot label"/>
          <p:cNvSpPr txBox="1"/>
          <p:nvPr/>
        </p:nvSpPr>
        <p:spPr>
          <a:xfrm>
            <a:off x="457200" y="1097280"/>
            <a:ext cx="4937760" cy="342900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outputs/04_returns_normal.png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5" name="Stat card P(return &gt; 0): chance of an up day"/>
          <p:cNvSpPr/>
          <p:nvPr/>
        </p:nvSpPr>
        <p:spPr>
          <a:xfrm>
            <a:off x="5669280" y="1097280"/>
            <a:ext cx="30175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tat value"/>
          <p:cNvSpPr txBox="1"/>
          <p:nvPr/>
        </p:nvSpPr>
        <p:spPr>
          <a:xfrm>
            <a:off x="5806440" y="1207008"/>
            <a:ext cx="2743200" cy="578358"/>
          </a:xfrm>
          <a:prstGeom prst="rect">
            <a:avLst/>
          </a:prstGeom>
          <a:noFill/>
          <a:ln/>
        </p:spPr>
        <p:txBody>
          <a:bodyPr wrap="square" lIns="0" tIns="0" rIns="0" bIns="0" rtlCol="0" anchor="ctr"/>
          <a:lstStyle/>
          <a:p>
            <a:pPr indent="0" marL="0">
              <a:buNone/>
            </a:pPr>
            <a:r>
              <a:rPr lang="en-US" sz="2800" b="1" dirty="0">
                <a:solidFill>
                  <a:schemeClr val="tx1"/>
                </a:solidFill>
                <a:highlight>
                  <a:srgbClr val="FFFF00"/>
                </a:highlight>
                <a:latin typeface="Cambria" pitchFamily="34" charset="0"/>
                <a:ea typeface="Cambria" pitchFamily="34" charset="-122"/>
                <a:cs typeface="Cambria" pitchFamily="34" charset="-120"/>
              </a:rPr>
              <a:t>[ ]</a:t>
            </a:r>
            <a:endParaRPr lang="en-US" sz="2800" dirty="0"/>
          </a:p>
        </p:txBody>
      </p:sp>
      <p:sp>
        <p:nvSpPr>
          <p:cNvPr id="7" name="Stat label"/>
          <p:cNvSpPr txBox="1"/>
          <p:nvPr/>
        </p:nvSpPr>
        <p:spPr>
          <a:xfrm>
            <a:off x="5806440" y="1749247"/>
            <a:ext cx="2743200" cy="336499"/>
          </a:xfrm>
          <a:prstGeom prst="rect">
            <a:avLst/>
          </a:prstGeom>
          <a:noFill/>
          <a:ln/>
        </p:spPr>
        <p:txBody>
          <a:bodyPr wrap="square" lIns="0" tIns="0" rIns="0" bIns="0" rtlCol="0" anchor="t"/>
          <a:lstStyle/>
          <a:p>
            <a:pPr indent="0" marL="0">
              <a:buNone/>
            </a:pPr>
            <a:r>
              <a:rPr lang="en-US" sz="1200" dirty="0">
                <a:solidFill>
                  <a:schemeClr val="accent6"/>
                </a:solidFill>
              </a:rPr>
              <a:t>P(return &gt; 0): chance of an up day</a:t>
            </a:r>
            <a:endParaRPr lang="en-US" sz="1200" dirty="0"/>
          </a:p>
        </p:txBody>
      </p:sp>
      <p:sp>
        <p:nvSpPr>
          <p:cNvPr id="8" name="Stat card P(return &lt; −2%): chance of a big fall"/>
          <p:cNvSpPr/>
          <p:nvPr/>
        </p:nvSpPr>
        <p:spPr>
          <a:xfrm>
            <a:off x="5669280" y="2286000"/>
            <a:ext cx="30175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at value"/>
          <p:cNvSpPr txBox="1"/>
          <p:nvPr/>
        </p:nvSpPr>
        <p:spPr>
          <a:xfrm>
            <a:off x="5806440" y="2395728"/>
            <a:ext cx="2743200" cy="578358"/>
          </a:xfrm>
          <a:prstGeom prst="rect">
            <a:avLst/>
          </a:prstGeom>
          <a:noFill/>
          <a:ln/>
        </p:spPr>
        <p:txBody>
          <a:bodyPr wrap="square" lIns="0" tIns="0" rIns="0" bIns="0" rtlCol="0" anchor="ctr"/>
          <a:lstStyle/>
          <a:p>
            <a:pPr indent="0" marL="0">
              <a:buNone/>
            </a:pPr>
            <a:r>
              <a:rPr lang="en-US" sz="2800" b="1" dirty="0">
                <a:solidFill>
                  <a:schemeClr val="tx1"/>
                </a:solidFill>
                <a:highlight>
                  <a:srgbClr val="FFFF00"/>
                </a:highlight>
                <a:latin typeface="Cambria" pitchFamily="34" charset="0"/>
                <a:ea typeface="Cambria" pitchFamily="34" charset="-122"/>
                <a:cs typeface="Cambria" pitchFamily="34" charset="-120"/>
              </a:rPr>
              <a:t>[ ]</a:t>
            </a:r>
            <a:endParaRPr lang="en-US" sz="2800" dirty="0"/>
          </a:p>
        </p:txBody>
      </p:sp>
      <p:sp>
        <p:nvSpPr>
          <p:cNvPr id="10" name="Stat label"/>
          <p:cNvSpPr txBox="1"/>
          <p:nvPr/>
        </p:nvSpPr>
        <p:spPr>
          <a:xfrm>
            <a:off x="5806440" y="2937967"/>
            <a:ext cx="2743200" cy="336499"/>
          </a:xfrm>
          <a:prstGeom prst="rect">
            <a:avLst/>
          </a:prstGeom>
          <a:noFill/>
          <a:ln/>
        </p:spPr>
        <p:txBody>
          <a:bodyPr wrap="square" lIns="0" tIns="0" rIns="0" bIns="0" rtlCol="0" anchor="t"/>
          <a:lstStyle/>
          <a:p>
            <a:pPr indent="0" marL="0">
              <a:buNone/>
            </a:pPr>
            <a:r>
              <a:rPr lang="en-US" sz="1200" dirty="0">
                <a:solidFill>
                  <a:schemeClr val="accent6"/>
                </a:solidFill>
              </a:rPr>
              <a:t>P(return &lt; −2%): chance of a big fall</a:t>
            </a:r>
            <a:endParaRPr lang="en-US" sz="1200" dirty="0"/>
          </a:p>
        </p:txBody>
      </p:sp>
      <p:sp>
        <p:nvSpPr>
          <p:cNvPr id="11" name="Normal card"/>
          <p:cNvSpPr/>
          <p:nvPr/>
        </p:nvSpPr>
        <p:spPr>
          <a:xfrm>
            <a:off x="5669280" y="3474720"/>
            <a:ext cx="301752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5806440" y="3474720"/>
            <a:ext cx="2743200" cy="1051560"/>
          </a:xfrm>
          <a:prstGeom prst="rect">
            <a:avLst/>
          </a:prstGeom>
          <a:noFill/>
          <a:ln/>
        </p:spPr>
        <p:txBody>
          <a:bodyPr wrap="square" rtlCol="0" anchor="ctr"/>
          <a:lstStyle/>
          <a:p>
            <a:pPr indent="0" marL="0">
              <a:buNone/>
            </a:pPr>
            <a:r>
              <a:rPr lang="en-US" sz="1400" dirty="0">
                <a:solidFill>
                  <a:schemeClr val="tx1"/>
                </a:solidFill>
              </a:rPr>
              <a:t>Returns ~ N(μ = </a:t>
            </a:r>
            <a:pPr indent="0" marL="0">
              <a:buNone/>
            </a:pPr>
            <a:r>
              <a:rPr lang="en-US" sz="1400" b="1" dirty="0">
                <a:solidFill>
                  <a:schemeClr val="tx1"/>
                </a:solidFill>
                <a:highlight>
                  <a:srgbClr val="FFFF00"/>
                </a:highlight>
              </a:rPr>
              <a:t>[ ]</a:t>
            </a:r>
            <a:pPr indent="0" marL="0">
              <a:buNone/>
            </a:pPr>
            <a:r>
              <a:rPr lang="en-US" sz="1400" dirty="0">
                <a:solidFill>
                  <a:schemeClr val="tx1"/>
                </a:solidFill>
              </a:rPr>
              <a:t>%, σ = </a:t>
            </a:r>
            <a:pPr indent="0" marL="0">
              <a:buNone/>
            </a:pPr>
            <a:r>
              <a:rPr lang="en-US" sz="1400" b="1" dirty="0">
                <a:solidFill>
                  <a:schemeClr val="tx1"/>
                </a:solidFill>
                <a:highlight>
                  <a:srgbClr val="FFFF00"/>
                </a:highlight>
              </a:rPr>
              <a:t>[ ]</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Choosing the polynomial degree</a:t>
            </a:r>
            <a:endParaRPr lang="en-US" sz="3000" dirty="0"/>
          </a:p>
        </p:txBody>
      </p:sp>
      <p:sp>
        <p:nvSpPr>
          <p:cNvPr id="3" name="Equation card"/>
          <p:cNvSpPr/>
          <p:nvPr/>
        </p:nvSpPr>
        <p:spPr>
          <a:xfrm>
            <a:off x="457200" y="1097280"/>
            <a:ext cx="3931920" cy="777240"/>
          </a:xfrm>
          <a:prstGeom prst="roundRect">
            <a:avLst>
              <a:gd name="adj" fmla="val 9412"/>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548640" y="1097280"/>
            <a:ext cx="3749040" cy="777240"/>
          </a:xfrm>
          <a:prstGeom prst="rect">
            <a:avLst/>
          </a:prstGeom>
          <a:noFill/>
          <a:ln/>
        </p:spPr>
        <p:txBody>
          <a:bodyPr wrap="square" rtlCol="0" anchor="ctr"/>
          <a:lstStyle/>
          <a:p>
            <a:pPr algn="ctr" indent="0" marL="0">
              <a:buNone/>
            </a:pPr>
            <a:r>
              <a:rPr lang="en-US" sz="1800" dirty="0">
                <a:solidFill>
                  <a:schemeClr val="bg1"/>
                </a:solidFill>
                <a:latin typeface="Cambria" pitchFamily="34" charset="0"/>
                <a:ea typeface="Cambria" pitchFamily="34" charset="-122"/>
                <a:cs typeface="Cambria" pitchFamily="34" charset="-120"/>
              </a:rPr>
              <a:t>ŷ = β₀ + β₁x + β₂x² + … + βd·xᵈ</a:t>
            </a:r>
            <a:endParaRPr lang="en-US" sz="1800" dirty="0"/>
          </a:p>
        </p:txBody>
      </p:sp>
      <p:sp>
        <p:nvSpPr>
          <p:cNvPr id="5" name="Degree rule 0 circle"/>
          <p:cNvSpPr/>
          <p:nvPr/>
        </p:nvSpPr>
        <p:spPr>
          <a:xfrm>
            <a:off x="457200" y="2103120"/>
            <a:ext cx="457200" cy="457200"/>
          </a:xfrm>
          <a:prstGeom prst="ellipse">
            <a:avLst/>
          </a:prstGeom>
          <a:solidFill>
            <a:schemeClr val="accent6"/>
          </a:solidFill>
          <a:ln w="12700">
            <a:solidFill>
              <a:schemeClr val="accent6"/>
            </a:solidFill>
            <a:prstDash val="solid"/>
          </a:ln>
        </p:spPr>
      </p:sp>
      <p:pic>
        <p:nvPicPr>
          <p:cNvPr id="6" name="Degree rule 0 icon" descr="preencoded.png">    </p:cNvPr>
          <p:cNvPicPr>
            <a:picLocks noChangeAspect="1"/>
          </p:cNvPicPr>
          <p:nvPr/>
        </p:nvPicPr>
        <p:blipFill>
          <a:blip r:embed="rId1"/>
          <a:stretch>
            <a:fillRect/>
          </a:stretch>
        </p:blipFill>
        <p:spPr>
          <a:xfrm>
            <a:off x="571500" y="2217420"/>
            <a:ext cx="228600" cy="228600"/>
          </a:xfrm>
          <a:prstGeom prst="rect">
            <a:avLst/>
          </a:prstGeom>
        </p:spPr>
      </p:pic>
      <p:sp>
        <p:nvSpPr>
          <p:cNvPr id="7" name="Text 4"/>
          <p:cNvSpPr txBox="1"/>
          <p:nvPr/>
        </p:nvSpPr>
        <p:spPr>
          <a:xfrm>
            <a:off x="1051560" y="2057400"/>
            <a:ext cx="3337560" cy="594360"/>
          </a:xfrm>
          <a:prstGeom prst="rect">
            <a:avLst/>
          </a:prstGeom>
          <a:noFill/>
          <a:ln/>
        </p:spPr>
        <p:txBody>
          <a:bodyPr wrap="square" lIns="0" tIns="0" rIns="0" bIns="0" rtlCol="0" anchor="ctr"/>
          <a:lstStyle/>
          <a:p>
            <a:pPr indent="0" marL="0">
              <a:buNone/>
            </a:pPr>
            <a:r>
              <a:rPr lang="en-US" sz="1500" b="1" dirty="0">
                <a:solidFill>
                  <a:schemeClr val="tx1"/>
                </a:solidFill>
              </a:rPr>
              <a:t>Too low: underfits</a:t>
            </a:r>
            <a:endParaRPr lang="en-US" sz="1500" dirty="0"/>
          </a:p>
          <a:p>
            <a:pPr indent="0" marL="0">
              <a:buNone/>
            </a:pPr>
            <a:r>
              <a:rPr lang="en-US" sz="1300" dirty="0">
                <a:solidFill>
                  <a:schemeClr val="accent4"/>
                </a:solidFill>
              </a:rPr>
              <a:t>misses the curve, high error everywhere</a:t>
            </a:r>
            <a:endParaRPr lang="en-US" sz="1500" dirty="0"/>
          </a:p>
        </p:txBody>
      </p:sp>
      <p:sp>
        <p:nvSpPr>
          <p:cNvPr id="8" name="Degree rule 1 circle"/>
          <p:cNvSpPr/>
          <p:nvPr/>
        </p:nvSpPr>
        <p:spPr>
          <a:xfrm>
            <a:off x="457200" y="2788920"/>
            <a:ext cx="457200" cy="457200"/>
          </a:xfrm>
          <a:prstGeom prst="ellipse">
            <a:avLst/>
          </a:prstGeom>
          <a:solidFill>
            <a:schemeClr val="accent3"/>
          </a:solidFill>
          <a:ln w="12700">
            <a:solidFill>
              <a:schemeClr val="accent3"/>
            </a:solidFill>
            <a:prstDash val="solid"/>
          </a:ln>
        </p:spPr>
      </p:sp>
      <p:pic>
        <p:nvPicPr>
          <p:cNvPr id="9" name="Degree rule 1 icon" descr="preencoded.png">    </p:cNvPr>
          <p:cNvPicPr>
            <a:picLocks noChangeAspect="1"/>
          </p:cNvPicPr>
          <p:nvPr/>
        </p:nvPicPr>
        <p:blipFill>
          <a:blip r:embed="rId2"/>
          <a:stretch>
            <a:fillRect/>
          </a:stretch>
        </p:blipFill>
        <p:spPr>
          <a:xfrm>
            <a:off x="571500" y="2903220"/>
            <a:ext cx="228600" cy="228600"/>
          </a:xfrm>
          <a:prstGeom prst="rect">
            <a:avLst/>
          </a:prstGeom>
        </p:spPr>
      </p:pic>
      <p:sp>
        <p:nvSpPr>
          <p:cNvPr id="10" name="Text 6"/>
          <p:cNvSpPr txBox="1"/>
          <p:nvPr/>
        </p:nvSpPr>
        <p:spPr>
          <a:xfrm>
            <a:off x="1051560" y="2743200"/>
            <a:ext cx="3337560" cy="594360"/>
          </a:xfrm>
          <a:prstGeom prst="rect">
            <a:avLst/>
          </a:prstGeom>
          <a:noFill/>
          <a:ln/>
        </p:spPr>
        <p:txBody>
          <a:bodyPr wrap="square" lIns="0" tIns="0" rIns="0" bIns="0" rtlCol="0" anchor="ctr"/>
          <a:lstStyle/>
          <a:p>
            <a:pPr indent="0" marL="0">
              <a:buNone/>
            </a:pPr>
            <a:r>
              <a:rPr lang="en-US" sz="1500" b="1" dirty="0">
                <a:solidFill>
                  <a:schemeClr val="tx1"/>
                </a:solidFill>
              </a:rPr>
              <a:t>Too high: overfits</a:t>
            </a:r>
            <a:endParaRPr lang="en-US" sz="1500" dirty="0"/>
          </a:p>
          <a:p>
            <a:pPr indent="0" marL="0">
              <a:buNone/>
            </a:pPr>
            <a:r>
              <a:rPr lang="en-US" sz="1300" dirty="0">
                <a:solidFill>
                  <a:schemeClr val="accent4"/>
                </a:solidFill>
              </a:rPr>
              <a:t>train error falls but test error rises</a:t>
            </a:r>
            <a:endParaRPr lang="en-US" sz="1500" dirty="0"/>
          </a:p>
        </p:txBody>
      </p:sp>
      <p:sp>
        <p:nvSpPr>
          <p:cNvPr id="11" name="Degree rule 2 circle"/>
          <p:cNvSpPr/>
          <p:nvPr/>
        </p:nvSpPr>
        <p:spPr>
          <a:xfrm>
            <a:off x="457200" y="3474720"/>
            <a:ext cx="457200" cy="457200"/>
          </a:xfrm>
          <a:prstGeom prst="ellipse">
            <a:avLst/>
          </a:prstGeom>
          <a:solidFill>
            <a:schemeClr val="accent1"/>
          </a:solidFill>
          <a:ln w="12700">
            <a:solidFill>
              <a:schemeClr val="accent1"/>
            </a:solidFill>
            <a:prstDash val="solid"/>
          </a:ln>
        </p:spPr>
      </p:sp>
      <p:pic>
        <p:nvPicPr>
          <p:cNvPr id="12" name="Degree rule 2 icon" descr="preencoded.png">    </p:cNvPr>
          <p:cNvPicPr>
            <a:picLocks noChangeAspect="1"/>
          </p:cNvPicPr>
          <p:nvPr/>
        </p:nvPicPr>
        <p:blipFill>
          <a:blip r:embed="rId3"/>
          <a:stretch>
            <a:fillRect/>
          </a:stretch>
        </p:blipFill>
        <p:spPr>
          <a:xfrm>
            <a:off x="571500" y="3589020"/>
            <a:ext cx="228600" cy="228600"/>
          </a:xfrm>
          <a:prstGeom prst="rect">
            <a:avLst/>
          </a:prstGeom>
        </p:spPr>
      </p:pic>
      <p:sp>
        <p:nvSpPr>
          <p:cNvPr id="13" name="Text 8"/>
          <p:cNvSpPr txBox="1"/>
          <p:nvPr/>
        </p:nvSpPr>
        <p:spPr>
          <a:xfrm>
            <a:off x="1051560" y="3429000"/>
            <a:ext cx="3337560" cy="594360"/>
          </a:xfrm>
          <a:prstGeom prst="rect">
            <a:avLst/>
          </a:prstGeom>
          <a:noFill/>
          <a:ln/>
        </p:spPr>
        <p:txBody>
          <a:bodyPr wrap="square" lIns="0" tIns="0" rIns="0" bIns="0" rtlCol="0" anchor="ctr"/>
          <a:lstStyle/>
          <a:p>
            <a:pPr indent="0" marL="0">
              <a:buNone/>
            </a:pPr>
            <a:r>
              <a:rPr lang="en-US" sz="1500" b="1" dirty="0">
                <a:solidFill>
                  <a:schemeClr val="tx1"/>
                </a:solidFill>
              </a:rPr>
              <a:t>Rule: lowest test MSE</a:t>
            </a:r>
            <a:endParaRPr lang="en-US" sz="1500" dirty="0"/>
          </a:p>
          <a:p>
            <a:pPr indent="0" marL="0">
              <a:buNone/>
            </a:pPr>
            <a:r>
              <a:rPr lang="en-US" sz="1300" dirty="0">
                <a:solidFill>
                  <a:schemeClr val="accent4"/>
                </a:solidFill>
              </a:rPr>
              <a:t>judged on days the model never saw</a:t>
            </a:r>
            <a:endParaRPr lang="en-US" sz="1500" dirty="0"/>
          </a:p>
        </p:txBody>
      </p:sp>
      <p:sp>
        <p:nvSpPr>
          <p:cNvPr id="14" name="Text 9"/>
          <p:cNvSpPr txBox="1"/>
          <p:nvPr/>
        </p:nvSpPr>
        <p:spPr>
          <a:xfrm>
            <a:off x="457200" y="4160520"/>
            <a:ext cx="3931920" cy="411480"/>
          </a:xfrm>
          <a:prstGeom prst="rect">
            <a:avLst/>
          </a:prstGeom>
          <a:noFill/>
          <a:ln/>
        </p:spPr>
        <p:txBody>
          <a:bodyPr wrap="square" lIns="0" tIns="0" rIns="0" bIns="0" rtlCol="0" anchor="ctr"/>
          <a:lstStyle/>
          <a:p>
            <a:pPr indent="0" marL="0">
              <a:buNone/>
            </a:pPr>
            <a:r>
              <a:rPr lang="en-US" sz="1800" b="1" dirty="0">
                <a:solidFill>
                  <a:schemeClr val="tx2"/>
                </a:solidFill>
              </a:rPr>
              <a:t>Chosen degree: </a:t>
            </a:r>
            <a:pPr indent="0" marL="0">
              <a:buNone/>
            </a:pPr>
            <a:r>
              <a:rPr lang="en-US" sz="1800" b="1" dirty="0">
                <a:solidFill>
                  <a:schemeClr val="tx1"/>
                </a:solidFill>
                <a:highlight>
                  <a:srgbClr val="FFFF00"/>
                </a:highlight>
              </a:rPr>
              <a:t>[d]</a:t>
            </a:r>
            <a:endParaRPr lang="en-US" sz="1800" dirty="0"/>
          </a:p>
        </p:txBody>
      </p:sp>
      <p:sp>
        <p:nvSpPr>
          <p:cNvPr id="15" name="Image slot outputs/05_degree_selection.png"/>
          <p:cNvSpPr/>
          <p:nvPr/>
        </p:nvSpPr>
        <p:spPr>
          <a:xfrm>
            <a:off x="4663440" y="1097280"/>
            <a:ext cx="4023360" cy="3429000"/>
          </a:xfrm>
          <a:prstGeom prst="rect">
            <a:avLst/>
          </a:prstGeom>
          <a:solidFill>
            <a:srgbClr val="F4F6F5"/>
          </a:solidFill>
          <a:ln w="12700">
            <a:solidFill>
              <a:srgbClr val="9AA5A0"/>
            </a:solidFill>
            <a:prstDash val="dash"/>
          </a:ln>
        </p:spPr>
      </p:sp>
      <p:sp>
        <p:nvSpPr>
          <p:cNvPr id="16" name="Image slot label"/>
          <p:cNvSpPr txBox="1"/>
          <p:nvPr/>
        </p:nvSpPr>
        <p:spPr>
          <a:xfrm>
            <a:off x="4663440" y="1097280"/>
            <a:ext cx="4023360" cy="342900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outputs/05_degree_selection.png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well does the model fit?</a:t>
            </a:r>
            <a:endParaRPr lang="en-US" sz="3000" dirty="0"/>
          </a:p>
        </p:txBody>
      </p:sp>
      <p:sp>
        <p:nvSpPr>
          <p:cNvPr id="3" name="Image slot outputs/06_model_fit.png"/>
          <p:cNvSpPr/>
          <p:nvPr/>
        </p:nvSpPr>
        <p:spPr>
          <a:xfrm>
            <a:off x="457200" y="1097280"/>
            <a:ext cx="5029200" cy="3429000"/>
          </a:xfrm>
          <a:prstGeom prst="rect">
            <a:avLst/>
          </a:prstGeom>
          <a:solidFill>
            <a:srgbClr val="F4F6F5"/>
          </a:solidFill>
          <a:ln w="12700">
            <a:solidFill>
              <a:srgbClr val="9AA5A0"/>
            </a:solidFill>
            <a:prstDash val="dash"/>
          </a:ln>
        </p:spPr>
      </p:sp>
      <p:sp>
        <p:nvSpPr>
          <p:cNvPr id="4" name="Image slot label"/>
          <p:cNvSpPr txBox="1"/>
          <p:nvPr/>
        </p:nvSpPr>
        <p:spPr>
          <a:xfrm>
            <a:off x="457200" y="1097280"/>
            <a:ext cx="5029200" cy="342900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outputs/06_model_fit.png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5" name="Stat card Test MSE: Average squared error"/>
          <p:cNvSpPr/>
          <p:nvPr/>
        </p:nvSpPr>
        <p:spPr>
          <a:xfrm>
            <a:off x="5715000" y="1097280"/>
            <a:ext cx="1417320" cy="16002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tat value"/>
          <p:cNvSpPr txBox="1"/>
          <p:nvPr/>
        </p:nvSpPr>
        <p:spPr>
          <a:xfrm>
            <a:off x="5852160" y="1207008"/>
            <a:ext cx="1143000" cy="880110"/>
          </a:xfrm>
          <a:prstGeom prst="rect">
            <a:avLst/>
          </a:prstGeom>
          <a:noFill/>
          <a:ln/>
        </p:spPr>
        <p:txBody>
          <a:bodyPr wrap="square" lIns="0" tIns="0" rIns="0" bIns="0" rtlCol="0" anchor="ctr"/>
          <a:lstStyle/>
          <a:p>
            <a:pPr indent="0" marL="0">
              <a:buNone/>
            </a:pPr>
            <a:r>
              <a:rPr lang="en-US" sz="2400" b="1" dirty="0">
                <a:solidFill>
                  <a:schemeClr val="tx1"/>
                </a:solidFill>
                <a:highlight>
                  <a:srgbClr val="FFFF00"/>
                </a:highlight>
                <a:latin typeface="Cambria" pitchFamily="34" charset="0"/>
                <a:ea typeface="Cambria" pitchFamily="34" charset="-122"/>
                <a:cs typeface="Cambria" pitchFamily="34" charset="-120"/>
              </a:rPr>
              <a:t>[ ]</a:t>
            </a:r>
            <a:endParaRPr lang="en-US" sz="2400" dirty="0"/>
          </a:p>
        </p:txBody>
      </p:sp>
      <p:sp>
        <p:nvSpPr>
          <p:cNvPr id="7" name="Stat label"/>
          <p:cNvSpPr txBox="1"/>
          <p:nvPr/>
        </p:nvSpPr>
        <p:spPr>
          <a:xfrm>
            <a:off x="5852160" y="2089404"/>
            <a:ext cx="1143000" cy="512064"/>
          </a:xfrm>
          <a:prstGeom prst="rect">
            <a:avLst/>
          </a:prstGeom>
          <a:noFill/>
          <a:ln/>
        </p:spPr>
        <p:txBody>
          <a:bodyPr wrap="square" lIns="0" tIns="0" rIns="0" bIns="0" rtlCol="0" anchor="t"/>
          <a:lstStyle/>
          <a:p>
            <a:pPr indent="0" marL="0">
              <a:buNone/>
            </a:pPr>
            <a:r>
              <a:rPr lang="en-US" sz="1200" dirty="0">
                <a:solidFill>
                  <a:schemeClr val="accent6"/>
                </a:solidFill>
              </a:rPr>
              <a:t>Test MSE: Average squared error</a:t>
            </a:r>
            <a:endParaRPr lang="en-US" sz="1200" dirty="0"/>
          </a:p>
        </p:txBody>
      </p:sp>
      <p:sp>
        <p:nvSpPr>
          <p:cNvPr id="8" name="Stat card Test R²: Share of variation explained"/>
          <p:cNvSpPr/>
          <p:nvPr/>
        </p:nvSpPr>
        <p:spPr>
          <a:xfrm>
            <a:off x="7242048" y="1097280"/>
            <a:ext cx="1417320" cy="16002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at value"/>
          <p:cNvSpPr txBox="1"/>
          <p:nvPr/>
        </p:nvSpPr>
        <p:spPr>
          <a:xfrm>
            <a:off x="7379208" y="1207008"/>
            <a:ext cx="1143000" cy="880110"/>
          </a:xfrm>
          <a:prstGeom prst="rect">
            <a:avLst/>
          </a:prstGeom>
          <a:noFill/>
          <a:ln/>
        </p:spPr>
        <p:txBody>
          <a:bodyPr wrap="square" lIns="0" tIns="0" rIns="0" bIns="0" rtlCol="0" anchor="ctr"/>
          <a:lstStyle/>
          <a:p>
            <a:pPr indent="0" marL="0">
              <a:buNone/>
            </a:pPr>
            <a:r>
              <a:rPr lang="en-US" sz="2400" b="1" dirty="0">
                <a:solidFill>
                  <a:schemeClr val="tx1"/>
                </a:solidFill>
                <a:highlight>
                  <a:srgbClr val="FFFF00"/>
                </a:highlight>
                <a:latin typeface="Cambria" pitchFamily="34" charset="0"/>
                <a:ea typeface="Cambria" pitchFamily="34" charset="-122"/>
                <a:cs typeface="Cambria" pitchFamily="34" charset="-120"/>
              </a:rPr>
              <a:t>[ ]</a:t>
            </a:r>
            <a:endParaRPr lang="en-US" sz="2400" dirty="0"/>
          </a:p>
        </p:txBody>
      </p:sp>
      <p:sp>
        <p:nvSpPr>
          <p:cNvPr id="10" name="Stat label"/>
          <p:cNvSpPr txBox="1"/>
          <p:nvPr/>
        </p:nvSpPr>
        <p:spPr>
          <a:xfrm>
            <a:off x="7379208" y="2089404"/>
            <a:ext cx="1143000" cy="512064"/>
          </a:xfrm>
          <a:prstGeom prst="rect">
            <a:avLst/>
          </a:prstGeom>
          <a:noFill/>
          <a:ln/>
        </p:spPr>
        <p:txBody>
          <a:bodyPr wrap="square" lIns="0" tIns="0" rIns="0" bIns="0" rtlCol="0" anchor="t"/>
          <a:lstStyle/>
          <a:p>
            <a:pPr indent="0" marL="0">
              <a:buNone/>
            </a:pPr>
            <a:r>
              <a:rPr lang="en-US" sz="1200" dirty="0">
                <a:solidFill>
                  <a:schemeClr val="accent6"/>
                </a:solidFill>
              </a:rPr>
              <a:t>Test R²: Share of variation explained</a:t>
            </a:r>
            <a:endParaRPr lang="en-US" sz="1200" dirty="0"/>
          </a:p>
        </p:txBody>
      </p:sp>
      <p:sp>
        <p:nvSpPr>
          <p:cNvPr id="11" name="Stat card Pearson r: Linear agreement"/>
          <p:cNvSpPr/>
          <p:nvPr/>
        </p:nvSpPr>
        <p:spPr>
          <a:xfrm>
            <a:off x="5715000" y="2834640"/>
            <a:ext cx="1417320" cy="16002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Stat value"/>
          <p:cNvSpPr txBox="1"/>
          <p:nvPr/>
        </p:nvSpPr>
        <p:spPr>
          <a:xfrm>
            <a:off x="5852160" y="2944368"/>
            <a:ext cx="1143000" cy="880110"/>
          </a:xfrm>
          <a:prstGeom prst="rect">
            <a:avLst/>
          </a:prstGeom>
          <a:noFill/>
          <a:ln/>
        </p:spPr>
        <p:txBody>
          <a:bodyPr wrap="square" lIns="0" tIns="0" rIns="0" bIns="0" rtlCol="0" anchor="ctr"/>
          <a:lstStyle/>
          <a:p>
            <a:pPr indent="0" marL="0">
              <a:buNone/>
            </a:pPr>
            <a:r>
              <a:rPr lang="en-US" sz="2400" b="1" dirty="0">
                <a:solidFill>
                  <a:schemeClr val="tx1"/>
                </a:solidFill>
                <a:highlight>
                  <a:srgbClr val="FFFF00"/>
                </a:highlight>
                <a:latin typeface="Cambria" pitchFamily="34" charset="0"/>
                <a:ea typeface="Cambria" pitchFamily="34" charset="-122"/>
                <a:cs typeface="Cambria" pitchFamily="34" charset="-120"/>
              </a:rPr>
              <a:t>[ ]</a:t>
            </a:r>
            <a:endParaRPr lang="en-US" sz="2400" dirty="0"/>
          </a:p>
        </p:txBody>
      </p:sp>
      <p:sp>
        <p:nvSpPr>
          <p:cNvPr id="13" name="Stat label"/>
          <p:cNvSpPr txBox="1"/>
          <p:nvPr/>
        </p:nvSpPr>
        <p:spPr>
          <a:xfrm>
            <a:off x="5852160" y="3826764"/>
            <a:ext cx="1143000" cy="512064"/>
          </a:xfrm>
          <a:prstGeom prst="rect">
            <a:avLst/>
          </a:prstGeom>
          <a:noFill/>
          <a:ln/>
        </p:spPr>
        <p:txBody>
          <a:bodyPr wrap="square" lIns="0" tIns="0" rIns="0" bIns="0" rtlCol="0" anchor="t"/>
          <a:lstStyle/>
          <a:p>
            <a:pPr indent="0" marL="0">
              <a:buNone/>
            </a:pPr>
            <a:r>
              <a:rPr lang="en-US" sz="1200" dirty="0">
                <a:solidFill>
                  <a:schemeClr val="accent6"/>
                </a:solidFill>
              </a:rPr>
              <a:t>Pearson r: Linear agreement</a:t>
            </a:r>
            <a:endParaRPr lang="en-US" sz="1200" dirty="0"/>
          </a:p>
        </p:txBody>
      </p:sp>
      <p:sp>
        <p:nvSpPr>
          <p:cNvPr id="14" name="Stat card Spearman ρ: Rank agreement"/>
          <p:cNvSpPr/>
          <p:nvPr/>
        </p:nvSpPr>
        <p:spPr>
          <a:xfrm>
            <a:off x="7242048" y="2834640"/>
            <a:ext cx="1417320" cy="160020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Stat value"/>
          <p:cNvSpPr txBox="1"/>
          <p:nvPr/>
        </p:nvSpPr>
        <p:spPr>
          <a:xfrm>
            <a:off x="7379208" y="2944368"/>
            <a:ext cx="1143000" cy="880110"/>
          </a:xfrm>
          <a:prstGeom prst="rect">
            <a:avLst/>
          </a:prstGeom>
          <a:noFill/>
          <a:ln/>
        </p:spPr>
        <p:txBody>
          <a:bodyPr wrap="square" lIns="0" tIns="0" rIns="0" bIns="0" rtlCol="0" anchor="ctr"/>
          <a:lstStyle/>
          <a:p>
            <a:pPr indent="0" marL="0">
              <a:buNone/>
            </a:pPr>
            <a:r>
              <a:rPr lang="en-US" sz="2400" b="1" dirty="0">
                <a:solidFill>
                  <a:schemeClr val="tx1"/>
                </a:solidFill>
                <a:highlight>
                  <a:srgbClr val="FFFF00"/>
                </a:highlight>
                <a:latin typeface="Cambria" pitchFamily="34" charset="0"/>
                <a:ea typeface="Cambria" pitchFamily="34" charset="-122"/>
                <a:cs typeface="Cambria" pitchFamily="34" charset="-120"/>
              </a:rPr>
              <a:t>[ ]</a:t>
            </a:r>
            <a:endParaRPr lang="en-US" sz="2400" dirty="0"/>
          </a:p>
        </p:txBody>
      </p:sp>
      <p:sp>
        <p:nvSpPr>
          <p:cNvPr id="16" name="Stat label"/>
          <p:cNvSpPr txBox="1"/>
          <p:nvPr/>
        </p:nvSpPr>
        <p:spPr>
          <a:xfrm>
            <a:off x="7379208" y="3826764"/>
            <a:ext cx="1143000" cy="512064"/>
          </a:xfrm>
          <a:prstGeom prst="rect">
            <a:avLst/>
          </a:prstGeom>
          <a:noFill/>
          <a:ln/>
        </p:spPr>
        <p:txBody>
          <a:bodyPr wrap="square" lIns="0" tIns="0" rIns="0" bIns="0" rtlCol="0" anchor="t"/>
          <a:lstStyle/>
          <a:p>
            <a:pPr indent="0" marL="0">
              <a:buNone/>
            </a:pPr>
            <a:r>
              <a:rPr lang="en-US" sz="1200" dirty="0">
                <a:solidFill>
                  <a:schemeClr val="accent6"/>
                </a:solidFill>
              </a:rPr>
              <a:t>Spearman ρ: Rank agreement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10-day forecast with a 95% band</a:t>
            </a:r>
            <a:endParaRPr lang="en-US" sz="3000" dirty="0"/>
          </a:p>
        </p:txBody>
      </p:sp>
      <p:sp>
        <p:nvSpPr>
          <p:cNvPr id="3" name="Image slot outputs/07_forecast.png"/>
          <p:cNvSpPr/>
          <p:nvPr/>
        </p:nvSpPr>
        <p:spPr>
          <a:xfrm>
            <a:off x="457200" y="1097280"/>
            <a:ext cx="5029200" cy="3429000"/>
          </a:xfrm>
          <a:prstGeom prst="rect">
            <a:avLst/>
          </a:prstGeom>
          <a:solidFill>
            <a:srgbClr val="F4F6F5"/>
          </a:solidFill>
          <a:ln w="12700">
            <a:solidFill>
              <a:srgbClr val="9AA5A0"/>
            </a:solidFill>
            <a:prstDash val="dash"/>
          </a:ln>
        </p:spPr>
      </p:sp>
      <p:sp>
        <p:nvSpPr>
          <p:cNvPr id="4" name="Image slot label"/>
          <p:cNvSpPr txBox="1"/>
          <p:nvPr/>
        </p:nvSpPr>
        <p:spPr>
          <a:xfrm>
            <a:off x="457200" y="1097280"/>
            <a:ext cx="5029200" cy="342900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outputs/07_forecast.png</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5" name="Trend card"/>
          <p:cNvSpPr/>
          <p:nvPr/>
        </p:nvSpPr>
        <p:spPr>
          <a:xfrm>
            <a:off x="5715000" y="1097280"/>
            <a:ext cx="2971800" cy="1463040"/>
          </a:xfrm>
          <a:prstGeom prst="roundRect">
            <a:avLst>
              <a:gd name="adj" fmla="val 50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852160" y="1097280"/>
            <a:ext cx="2697480" cy="1463040"/>
          </a:xfrm>
          <a:prstGeom prst="rect">
            <a:avLst/>
          </a:prstGeom>
          <a:noFill/>
          <a:ln/>
        </p:spPr>
        <p:txBody>
          <a:bodyPr wrap="square" rtlCol="0" anchor="ctr"/>
          <a:lstStyle/>
          <a:p>
            <a:pPr indent="0" marL="0">
              <a:buNone/>
            </a:pPr>
            <a:r>
              <a:rPr lang="en-US" sz="1300" dirty="0">
                <a:solidFill>
                  <a:schemeClr val="bg2"/>
                </a:solidFill>
              </a:rPr>
              <a:t>Predicted trend</a:t>
            </a:r>
            <a:endParaRPr lang="en-US" sz="1300" dirty="0"/>
          </a:p>
          <a:p>
            <a:pPr indent="0" marL="0">
              <a:buNone/>
            </a:pPr>
            <a:r>
              <a:rPr lang="en-US" sz="2000" b="1" dirty="0">
                <a:solidFill>
                  <a:schemeClr val="accent2"/>
                </a:solidFill>
              </a:rPr>
              <a:t>[UPWARD / DOWNWARD]</a:t>
            </a:r>
            <a:endParaRPr lang="en-US" sz="1300" dirty="0"/>
          </a:p>
        </p:txBody>
      </p:sp>
      <p:sp>
        <p:nvSpPr>
          <p:cNvPr id="7" name="Band card"/>
          <p:cNvSpPr/>
          <p:nvPr/>
        </p:nvSpPr>
        <p:spPr>
          <a:xfrm>
            <a:off x="5715000" y="2743200"/>
            <a:ext cx="2971800" cy="1783080"/>
          </a:xfrm>
          <a:prstGeom prst="roundRect">
            <a:avLst>
              <a:gd name="adj" fmla="val 410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5852160" y="2788920"/>
            <a:ext cx="2697480" cy="1691640"/>
          </a:xfrm>
          <a:prstGeom prst="rect">
            <a:avLst/>
          </a:prstGeom>
          <a:noFill/>
          <a:ln/>
        </p:spPr>
        <p:txBody>
          <a:bodyPr wrap="square" rtlCol="0" anchor="ctr"/>
          <a:lstStyle/>
          <a:p>
            <a:pPr indent="0" marL="0">
              <a:spcAft>
                <a:spcPts val="600"/>
              </a:spcAft>
              <a:buNone/>
            </a:pPr>
            <a:r>
              <a:rPr lang="en-US" sz="1500" b="1" dirty="0">
                <a:solidFill>
                  <a:schemeClr val="tx1"/>
                </a:solidFill>
              </a:rPr>
              <a:t>Day 10: ₹</a:t>
            </a:r>
            <a:pPr indent="0" marL="0">
              <a:spcAft>
                <a:spcPts val="600"/>
              </a:spcAft>
              <a:buNone/>
            </a:pPr>
            <a:r>
              <a:rPr lang="en-US" sz="1500" b="1" dirty="0">
                <a:solidFill>
                  <a:schemeClr val="tx1"/>
                </a:solidFill>
                <a:highlight>
                  <a:srgbClr val="FFFF00"/>
                </a:highlight>
              </a:rPr>
              <a:t>[ ]</a:t>
            </a:r>
            <a:pPr indent="0" marL="0">
              <a:spcAft>
                <a:spcPts val="600"/>
              </a:spcAft>
              <a:buNone/>
            </a:pPr>
            <a:r>
              <a:rPr lang="en-US" sz="1500" dirty="0">
                <a:solidFill>
                  <a:schemeClr val="tx1"/>
                </a:solidFill>
              </a:rPr>
              <a:t> ± </a:t>
            </a:r>
            <a:pPr indent="0" marL="0">
              <a:spcAft>
                <a:spcPts val="600"/>
              </a:spcAft>
              <a:buNone/>
            </a:pPr>
            <a:r>
              <a:rPr lang="en-US" sz="1500" b="1" dirty="0">
                <a:solidFill>
                  <a:schemeClr val="tx1"/>
                </a:solidFill>
                <a:highlight>
                  <a:srgbClr val="FFFF00"/>
                </a:highlight>
              </a:rPr>
              <a:t>[ ]</a:t>
            </a:r>
            <a:endParaRPr lang="en-US" sz="1500" dirty="0"/>
          </a:p>
          <a:p>
            <a:pPr indent="0" marL="0">
              <a:spcAft>
                <a:spcPts val="600"/>
              </a:spcAft>
              <a:buNone/>
            </a:pPr>
            <a:r>
              <a:rPr lang="en-US" sz="1300" dirty="0">
                <a:solidFill>
                  <a:schemeClr val="accent4"/>
                </a:solidFill>
              </a:rPr>
              <a:t>Band = forecast ± 1.96σ, because 95% of a Normal distribution lies within 1.96σ</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Statistical validation (CO5)</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3657600"/>
                <a:gridCol w="1005840"/>
                <a:gridCol w="1371600"/>
              </a:tblGrid>
              <a:tr h="457200">
                <a:tc>
                  <a:txBody>
                    <a:bodyPr/>
                    <a:lstStyle/>
                    <a:p>
                      <a:pPr indent="0" marL="0">
                        <a:buNone/>
                      </a:pPr>
                      <a:r>
                        <a:rPr lang="en-US" sz="1300" b="1" dirty="0">
                          <a:solidFill>
                            <a:schemeClr val="bg1"/>
                          </a:solidFill>
                        </a:rPr>
                        <a:t>Test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Question (H₀)</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p-value</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Decision</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solidFill>
                      <a:schemeClr val="tx2"/>
                    </a:solidFill>
                  </a:tcPr>
                </a:tc>
              </a:tr>
              <a:tr h="457200">
                <a:tc>
                  <a:txBody>
                    <a:bodyPr/>
                    <a:lstStyle/>
                    <a:p>
                      <a:pPr indent="0" marL="0">
                        <a:buNone/>
                      </a:pPr>
                      <a:r>
                        <a:rPr lang="en-US" sz="1300" dirty="0">
                          <a:solidFill>
                            <a:schemeClr val="tx1"/>
                          </a:solidFill>
                        </a:rPr>
                        <a:t>95% CI / t-test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Is the mean daily return 0?</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57200">
                <a:tc>
                  <a:txBody>
                    <a:bodyPr/>
                    <a:lstStyle/>
                    <a:p>
                      <a:pPr indent="0" marL="0">
                        <a:buNone/>
                      </a:pPr>
                      <a:r>
                        <a:rPr lang="en-US" sz="1300" dirty="0">
                          <a:solidFill>
                            <a:schemeClr val="tx1"/>
                          </a:solidFill>
                        </a:rPr>
                        <a:t>One-sample t-test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Is the mean residual 0 (unbiased)?</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57200">
                <a:tc>
                  <a:txBody>
                    <a:bodyPr/>
                    <a:lstStyle/>
                    <a:p>
                      <a:pPr indent="0" marL="0">
                        <a:buNone/>
                      </a:pPr>
                      <a:r>
                        <a:rPr lang="en-US" sz="1300" dirty="0">
                          <a:solidFill>
                            <a:schemeClr val="tx1"/>
                          </a:solidFill>
                        </a:rPr>
                        <a:t>F-test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Do linear and polynomial models have equal error variance?</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57200">
                <a:tc>
                  <a:txBody>
                    <a:bodyPr/>
                    <a:lstStyle/>
                    <a:p>
                      <a:pPr indent="0" marL="0">
                        <a:buNone/>
                      </a:pPr>
                      <a:r>
                        <a:rPr lang="en-US" sz="1300" dirty="0">
                          <a:solidFill>
                            <a:schemeClr val="tx1"/>
                          </a:solidFill>
                        </a:rPr>
                        <a:t>Chi-square goodness of fit</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Are the residuals Normal?</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r h="457200">
                <a:tc>
                  <a:txBody>
                    <a:bodyPr/>
                    <a:lstStyle/>
                    <a:p>
                      <a:pPr indent="0" marL="0">
                        <a:buNone/>
                      </a:pPr>
                      <a:r>
                        <a:rPr lang="en-US" sz="1300" dirty="0">
                          <a:solidFill>
                            <a:schemeClr val="tx1"/>
                          </a:solidFill>
                        </a:rPr>
                        <a:t>Chi-square independence</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dirty="0">
                          <a:solidFill>
                            <a:schemeClr val="tx1"/>
                          </a:solidFill>
                        </a:rPr>
                        <a:t>Are actual and predicted High/Low unrelated?</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c>
                  <a:txBody>
                    <a:bodyPr/>
                    <a:lstStyle/>
                    <a:p>
                      <a:pPr indent="0" marL="0">
                        <a:buNone/>
                      </a:pPr>
                      <a:r>
                        <a:rPr lang="en-US" sz="1300" b="1" dirty="0">
                          <a:solidFill>
                            <a:schemeClr val="tx1"/>
                          </a:solidFill>
                          <a:highlight>
                            <a:srgbClr val="FFFF00"/>
                          </a:highlight>
                        </a:rPr>
                        <a:t>[ ]</a:t>
                      </a:r>
                      <a:endParaRPr lang="en-US" sz="1300" dirty="0"/>
                    </a:p>
                  </a:txBody>
                  <a:tcPr marL="91440" marR="91440" marT="45720" marB="45720">
                    <a:lnL w="9525" cap="flat" cmpd="sng" algn="ctr">
                      <a:solidFill>
                        <a:srgbClr val="C9D6CF"/>
                      </a:solidFill>
                      <a:prstDash val="solid"/>
                      <a:round/>
                      <a:headEnd type="none" w="med" len="med"/>
                      <a:tailEnd type="none" w="med" len="med"/>
                    </a:lnL>
                    <a:lnR w="9525" cap="flat" cmpd="sng" algn="ctr">
                      <a:solidFill>
                        <a:srgbClr val="C9D6CF"/>
                      </a:solidFill>
                      <a:prstDash val="solid"/>
                      <a:round/>
                      <a:headEnd type="none" w="med" len="med"/>
                      <a:tailEnd type="none" w="med" len="med"/>
                    </a:lnR>
                    <a:lnT w="9525" cap="flat" cmpd="sng" algn="ctr">
                      <a:solidFill>
                        <a:srgbClr val="C9D6CF"/>
                      </a:solidFill>
                      <a:prstDash val="solid"/>
                      <a:round/>
                      <a:headEnd type="none" w="med" len="med"/>
                      <a:tailEnd type="none" w="med" len="med"/>
                    </a:lnT>
                    <a:lnB w="9525" cap="flat" cmpd="sng" algn="ctr">
                      <a:solidFill>
                        <a:srgbClr val="C9D6CF"/>
                      </a:solidFill>
                      <a:prstDash val="solid"/>
                      <a:round/>
                      <a:headEnd type="none" w="med" len="med"/>
                      <a:tailEnd type="none" w="med" len="med"/>
                    </a:lnB>
                  </a:tcPr>
                </a:tc>
              </a:tr>
            </a:tbl>
          </a:graphicData>
        </a:graphic>
      </p:graphicFrame>
      <p:sp>
        <p:nvSpPr>
          <p:cNvPr id="4" name="Rule card"/>
          <p:cNvSpPr/>
          <p:nvPr/>
        </p:nvSpPr>
        <p:spPr>
          <a:xfrm>
            <a:off x="457200" y="3931920"/>
            <a:ext cx="8229600" cy="640080"/>
          </a:xfrm>
          <a:prstGeom prst="roundRect">
            <a:avLst>
              <a:gd name="adj" fmla="val 11429"/>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640080" y="3931920"/>
            <a:ext cx="7863840" cy="640080"/>
          </a:xfrm>
          <a:prstGeom prst="rect">
            <a:avLst/>
          </a:prstGeom>
          <a:noFill/>
          <a:ln/>
        </p:spPr>
        <p:txBody>
          <a:bodyPr wrap="square" rtlCol="0" anchor="ctr"/>
          <a:lstStyle/>
          <a:p>
            <a:pPr indent="0" marL="0">
              <a:buNone/>
            </a:pPr>
            <a:r>
              <a:rPr lang="en-US" sz="1400" b="1" dirty="0">
                <a:solidFill>
                  <a:schemeClr val="accent2"/>
                </a:solidFill>
              </a:rPr>
              <a:t>Decision rule: </a:t>
            </a:r>
            <a:pPr indent="0" marL="0">
              <a:buNone/>
            </a:pPr>
            <a:r>
              <a:rPr lang="en-US" sz="1400" dirty="0">
                <a:solidFill>
                  <a:schemeClr val="bg1"/>
                </a:solidFill>
              </a:rPr>
              <a:t>reject H₀ if p-value &lt; α = 0.05; p-value = chance of a result this extreme if H₀ were true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Live demo: the GUI</a:t>
            </a:r>
            <a:endParaRPr lang="en-US" sz="3000" dirty="0"/>
          </a:p>
        </p:txBody>
      </p:sp>
      <p:sp>
        <p:nvSpPr>
          <p:cNvPr id="3" name="Image slot a screenshot of gui.py"/>
          <p:cNvSpPr/>
          <p:nvPr/>
        </p:nvSpPr>
        <p:spPr>
          <a:xfrm>
            <a:off x="457200" y="1097280"/>
            <a:ext cx="5029200" cy="3429000"/>
          </a:xfrm>
          <a:prstGeom prst="rect">
            <a:avLst/>
          </a:prstGeom>
          <a:solidFill>
            <a:srgbClr val="F4F6F5"/>
          </a:solidFill>
          <a:ln w="12700">
            <a:solidFill>
              <a:srgbClr val="9AA5A0"/>
            </a:solidFill>
            <a:prstDash val="dash"/>
          </a:ln>
        </p:spPr>
      </p:sp>
      <p:sp>
        <p:nvSpPr>
          <p:cNvPr id="4" name="Image slot label"/>
          <p:cNvSpPr txBox="1"/>
          <p:nvPr/>
        </p:nvSpPr>
        <p:spPr>
          <a:xfrm>
            <a:off x="457200" y="1097280"/>
            <a:ext cx="5029200" cy="3429000"/>
          </a:xfrm>
          <a:prstGeom prst="rect">
            <a:avLst/>
          </a:prstGeom>
          <a:noFill/>
          <a:ln/>
        </p:spPr>
        <p:txBody>
          <a:bodyPr wrap="square" rtlCol="0" anchor="ctr"/>
          <a:lstStyle/>
          <a:p>
            <a:pPr algn="ctr" indent="0" marL="0">
              <a:buNone/>
            </a:pPr>
            <a:r>
              <a:rPr lang="en-US" sz="1300" b="1" dirty="0">
                <a:solidFill>
                  <a:schemeClr val="tx1"/>
                </a:solidFill>
                <a:highlight>
                  <a:srgbClr val="FFFF00"/>
                </a:highlight>
              </a:rPr>
              <a:t>Insert a screenshot of gui.py</a:t>
            </a:r>
            <a:endParaRPr lang="en-US" sz="1300" dirty="0"/>
          </a:p>
          <a:p>
            <a:pPr algn="ctr" indent="0" marL="0">
              <a:buNone/>
            </a:pPr>
            <a:r>
              <a:rPr lang="en-US" sz="1100" dirty="0">
                <a:solidFill>
                  <a:schemeClr val="accent6"/>
                </a:solidFill>
              </a:rPr>
              <a:t>(delete this box, then Insert → Picture)</a:t>
            </a:r>
            <a:endParaRPr lang="en-US" sz="1300" dirty="0"/>
          </a:p>
        </p:txBody>
      </p:sp>
      <p:sp>
        <p:nvSpPr>
          <p:cNvPr id="5" name="GUI step 1"/>
          <p:cNvSpPr/>
          <p:nvPr/>
        </p:nvSpPr>
        <p:spPr>
          <a:xfrm>
            <a:off x="5760720" y="123444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5760720" y="12344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6446520" y="1143000"/>
            <a:ext cx="2240280" cy="731520"/>
          </a:xfrm>
          <a:prstGeom prst="rect">
            <a:avLst/>
          </a:prstGeom>
          <a:noFill/>
          <a:ln/>
        </p:spPr>
        <p:txBody>
          <a:bodyPr wrap="square" lIns="0" tIns="0" rIns="0" bIns="0" rtlCol="0" anchor="ctr"/>
          <a:lstStyle/>
          <a:p>
            <a:pPr indent="0" marL="0">
              <a:buNone/>
            </a:pPr>
            <a:r>
              <a:rPr lang="en-US" sz="1500" dirty="0">
                <a:solidFill>
                  <a:schemeClr val="tx1"/>
                </a:solidFill>
              </a:rPr>
              <a:t>Type a ticker (default TCS.NS)</a:t>
            </a:r>
            <a:endParaRPr lang="en-US" sz="1500" dirty="0"/>
          </a:p>
        </p:txBody>
      </p:sp>
      <p:sp>
        <p:nvSpPr>
          <p:cNvPr id="8" name="GUI step 2"/>
          <p:cNvSpPr/>
          <p:nvPr/>
        </p:nvSpPr>
        <p:spPr>
          <a:xfrm>
            <a:off x="5760720" y="233172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5760720" y="2331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6446520" y="2240280"/>
            <a:ext cx="2240280" cy="731520"/>
          </a:xfrm>
          <a:prstGeom prst="rect">
            <a:avLst/>
          </a:prstGeom>
          <a:noFill/>
          <a:ln/>
        </p:spPr>
        <p:txBody>
          <a:bodyPr wrap="square" lIns="0" tIns="0" rIns="0" bIns="0" rtlCol="0" anchor="ctr"/>
          <a:lstStyle/>
          <a:p>
            <a:pPr indent="0" marL="0">
              <a:buNone/>
            </a:pPr>
            <a:r>
              <a:rPr lang="en-US" sz="1500" dirty="0">
                <a:solidFill>
                  <a:schemeClr val="tx1"/>
                </a:solidFill>
              </a:rPr>
              <a:t>Click Run Analysis: the same code as main.py</a:t>
            </a:r>
            <a:endParaRPr lang="en-US" sz="1500" dirty="0"/>
          </a:p>
        </p:txBody>
      </p:sp>
      <p:sp>
        <p:nvSpPr>
          <p:cNvPr id="11" name="GUI step 3"/>
          <p:cNvSpPr/>
          <p:nvPr/>
        </p:nvSpPr>
        <p:spPr>
          <a:xfrm>
            <a:off x="5760720" y="342900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5760720" y="3429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6446520" y="3337560"/>
            <a:ext cx="2240280" cy="731520"/>
          </a:xfrm>
          <a:prstGeom prst="rect">
            <a:avLst/>
          </a:prstGeom>
          <a:noFill/>
          <a:ln/>
        </p:spPr>
        <p:txBody>
          <a:bodyPr wrap="square" lIns="0" tIns="0" rIns="0" bIns="0" rtlCol="0" anchor="ctr"/>
          <a:lstStyle/>
          <a:p>
            <a:pPr indent="0" marL="0">
              <a:buNone/>
            </a:pPr>
            <a:r>
              <a:rPr lang="en-US" sz="1500" dirty="0">
                <a:solidFill>
                  <a:schemeClr val="tx1"/>
                </a:solidFill>
              </a:rPr>
              <a:t>Read the results and open any of the 7 plots</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Limitations and future scope</a:t>
            </a:r>
            <a:endParaRPr lang="en-US" sz="3000" dirty="0"/>
          </a:p>
        </p:txBody>
      </p:sp>
      <p:sp>
        <p:nvSpPr>
          <p:cNvPr id="3" name="Limitations card"/>
          <p:cNvSpPr/>
          <p:nvPr/>
        </p:nvSpPr>
        <p:spPr>
          <a:xfrm>
            <a:off x="457200" y="1097280"/>
            <a:ext cx="397764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Limitations circle"/>
          <p:cNvSpPr/>
          <p:nvPr/>
        </p:nvSpPr>
        <p:spPr>
          <a:xfrm>
            <a:off x="731520" y="1325880"/>
            <a:ext cx="548640" cy="548640"/>
          </a:xfrm>
          <a:prstGeom prst="ellipse">
            <a:avLst/>
          </a:prstGeom>
          <a:solidFill>
            <a:schemeClr val="accent3"/>
          </a:solidFill>
          <a:ln w="12700">
            <a:solidFill>
              <a:schemeClr val="accent3"/>
            </a:solidFill>
            <a:prstDash val="solid"/>
          </a:ln>
        </p:spPr>
      </p:sp>
      <p:pic>
        <p:nvPicPr>
          <p:cNvPr id="5" name="Limitations icon" descr="preencoded.png">    </p:cNvPr>
          <p:cNvPicPr>
            <a:picLocks noChangeAspect="1"/>
          </p:cNvPicPr>
          <p:nvPr/>
        </p:nvPicPr>
        <p:blipFill>
          <a:blip r:embed="rId1"/>
          <a:stretch>
            <a:fillRect/>
          </a:stretch>
        </p:blipFill>
        <p:spPr>
          <a:xfrm>
            <a:off x="868680" y="1463040"/>
            <a:ext cx="274320" cy="274320"/>
          </a:xfrm>
          <a:prstGeom prst="rect">
            <a:avLst/>
          </a:prstGeom>
        </p:spPr>
      </p:pic>
      <p:sp>
        <p:nvSpPr>
          <p:cNvPr id="6" name="Text 3"/>
          <p:cNvSpPr txBox="1"/>
          <p:nvPr/>
        </p:nvSpPr>
        <p:spPr>
          <a:xfrm>
            <a:off x="1417320" y="1325880"/>
            <a:ext cx="2743200" cy="54864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7" name="Text 4"/>
          <p:cNvSpPr txBox="1"/>
          <p:nvPr/>
        </p:nvSpPr>
        <p:spPr>
          <a:xfrm>
            <a:off x="731520" y="2103120"/>
            <a:ext cx="3474720" cy="224028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Prices are noisy and driven by news</a:t>
            </a:r>
            <a:endParaRPr lang="en-US" sz="1500" dirty="0"/>
          </a:p>
          <a:p>
            <a:pPr marL="342900" indent="-342900">
              <a:spcAft>
                <a:spcPts val="1000"/>
              </a:spcAft>
              <a:buSzPct val="100000"/>
              <a:buChar char="•"/>
            </a:pPr>
            <a:r>
              <a:rPr lang="en-US" sz="1500" dirty="0">
                <a:solidFill>
                  <a:schemeClr val="tx1"/>
                </a:solidFill>
              </a:rPr>
              <a:t>Polynomials extrapolate badly, so only 10 days ahead</a:t>
            </a:r>
            <a:endParaRPr lang="en-US" sz="1500" dirty="0"/>
          </a:p>
          <a:p>
            <a:pPr marL="342900" indent="-342900">
              <a:spcAft>
                <a:spcPts val="1000"/>
              </a:spcAft>
              <a:buSzPct val="100000"/>
              <a:buChar char="•"/>
            </a:pPr>
            <a:r>
              <a:rPr lang="en-US" sz="1500" dirty="0">
                <a:solidFill>
                  <a:schemeClr val="tx1"/>
                </a:solidFill>
              </a:rPr>
              <a:t>Uses only time, not volume, news or results</a:t>
            </a:r>
            <a:endParaRPr lang="en-US" sz="1500" dirty="0"/>
          </a:p>
        </p:txBody>
      </p:sp>
      <p:sp>
        <p:nvSpPr>
          <p:cNvPr id="8" name="Future scope card"/>
          <p:cNvSpPr/>
          <p:nvPr/>
        </p:nvSpPr>
        <p:spPr>
          <a:xfrm>
            <a:off x="4709160" y="1097280"/>
            <a:ext cx="3977640" cy="3429000"/>
          </a:xfrm>
          <a:prstGeom prst="roundRect">
            <a:avLst>
              <a:gd name="adj" fmla="val 21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Future scope circle"/>
          <p:cNvSpPr/>
          <p:nvPr/>
        </p:nvSpPr>
        <p:spPr>
          <a:xfrm>
            <a:off x="4983480" y="1325880"/>
            <a:ext cx="548640" cy="548640"/>
          </a:xfrm>
          <a:prstGeom prst="ellipse">
            <a:avLst/>
          </a:prstGeom>
          <a:solidFill>
            <a:schemeClr val="accent1"/>
          </a:solidFill>
          <a:ln w="12700">
            <a:solidFill>
              <a:schemeClr val="accent1"/>
            </a:solidFill>
            <a:prstDash val="solid"/>
          </a:ln>
        </p:spPr>
      </p:sp>
      <p:pic>
        <p:nvPicPr>
          <p:cNvPr id="10" name="Future scope icon" descr="preencoded.png">    </p:cNvPr>
          <p:cNvPicPr>
            <a:picLocks noChangeAspect="1"/>
          </p:cNvPicPr>
          <p:nvPr/>
        </p:nvPicPr>
        <p:blipFill>
          <a:blip r:embed="rId2"/>
          <a:stretch>
            <a:fillRect/>
          </a:stretch>
        </p:blipFill>
        <p:spPr>
          <a:xfrm>
            <a:off x="5120640" y="1463040"/>
            <a:ext cx="274320" cy="274320"/>
          </a:xfrm>
          <a:prstGeom prst="rect">
            <a:avLst/>
          </a:prstGeom>
        </p:spPr>
      </p:pic>
      <p:sp>
        <p:nvSpPr>
          <p:cNvPr id="11" name="Text 7"/>
          <p:cNvSpPr txBox="1"/>
          <p:nvPr/>
        </p:nvSpPr>
        <p:spPr>
          <a:xfrm>
            <a:off x="5669280" y="1325880"/>
            <a:ext cx="2743200" cy="548640"/>
          </a:xfrm>
          <a:prstGeom prst="rect">
            <a:avLst/>
          </a:prstGeom>
          <a:noFill/>
          <a:ln/>
        </p:spPr>
        <p:txBody>
          <a:bodyPr wrap="square" lIns="0" tIns="0" rIns="0" bIns="0" rtlCol="0" anchor="ctr"/>
          <a:lstStyle/>
          <a:p>
            <a:pPr indent="0" marL="0">
              <a:buNone/>
            </a:pPr>
            <a:r>
              <a:rPr lang="en-US" sz="2000" b="1" dirty="0">
                <a:solidFill>
                  <a:schemeClr val="tx2"/>
                </a:solidFill>
              </a:rPr>
              <a:t>Future scope</a:t>
            </a:r>
            <a:endParaRPr lang="en-US" sz="2000" dirty="0"/>
          </a:p>
        </p:txBody>
      </p:sp>
      <p:sp>
        <p:nvSpPr>
          <p:cNvPr id="12" name="Text 8"/>
          <p:cNvSpPr txBox="1"/>
          <p:nvPr/>
        </p:nvSpPr>
        <p:spPr>
          <a:xfrm>
            <a:off x="4983480" y="2103120"/>
            <a:ext cx="3474720" cy="2240280"/>
          </a:xfrm>
          <a:prstGeom prst="rect">
            <a:avLst/>
          </a:prstGeom>
          <a:noFill/>
          <a:ln/>
        </p:spPr>
        <p:txBody>
          <a:bodyPr wrap="square" rtlCol="0" anchor="t"/>
          <a:lstStyle/>
          <a:p>
            <a:pPr marL="342900" indent="-342900">
              <a:spcAft>
                <a:spcPts val="1000"/>
              </a:spcAft>
              <a:buSzPct val="100000"/>
              <a:buChar char="•"/>
            </a:pPr>
            <a:r>
              <a:rPr lang="en-US" sz="1500" dirty="0">
                <a:solidFill>
                  <a:schemeClr val="tx1"/>
                </a:solidFill>
              </a:rPr>
              <a:t>Add volume or a market index as inputs</a:t>
            </a:r>
            <a:endParaRPr lang="en-US" sz="1500" dirty="0"/>
          </a:p>
          <a:p>
            <a:pPr marL="342900" indent="-342900">
              <a:spcAft>
                <a:spcPts val="1000"/>
              </a:spcAft>
              <a:buSzPct val="100000"/>
              <a:buChar char="•"/>
            </a:pPr>
            <a:r>
              <a:rPr lang="en-US" sz="1500" dirty="0">
                <a:solidFill>
                  <a:schemeClr val="tx1"/>
                </a:solidFill>
              </a:rPr>
              <a:t>Compare with ARIMA time series models</a:t>
            </a:r>
            <a:endParaRPr lang="en-US" sz="1500" dirty="0"/>
          </a:p>
          <a:p>
            <a:pPr marL="342900" indent="-342900">
              <a:spcAft>
                <a:spcPts val="1000"/>
              </a:spcAft>
              <a:buSzPct val="100000"/>
              <a:buChar char="•"/>
            </a:pPr>
            <a:r>
              <a:rPr lang="en-US" sz="1500" dirty="0">
                <a:solidFill>
                  <a:schemeClr val="tx1"/>
                </a:solidFill>
              </a:rPr>
              <a:t>Walk-forward validation over many periods</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Key results</a:t>
            </a:r>
            <a:endParaRPr lang="en-US" sz="3000" dirty="0"/>
          </a:p>
        </p:txBody>
      </p:sp>
      <p:sp>
        <p:nvSpPr>
          <p:cNvPr id="3" name="Result 1"/>
          <p:cNvSpPr/>
          <p:nvPr/>
        </p:nvSpPr>
        <p:spPr>
          <a:xfrm>
            <a:off x="457200" y="1143000"/>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457200" y="1143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097280" y="1097280"/>
            <a:ext cx="7589520" cy="548640"/>
          </a:xfrm>
          <a:prstGeom prst="rect">
            <a:avLst/>
          </a:prstGeom>
          <a:noFill/>
          <a:ln/>
        </p:spPr>
        <p:txBody>
          <a:bodyPr wrap="square" lIns="0" tIns="0" rIns="0" bIns="0" rtlCol="0" anchor="ctr"/>
          <a:lstStyle/>
          <a:p>
            <a:pPr indent="0" marL="0">
              <a:buNone/>
            </a:pPr>
            <a:r>
              <a:rPr lang="en-US" sz="1600" dirty="0">
                <a:solidFill>
                  <a:schemeClr val="tx1"/>
                </a:solidFill>
              </a:rPr>
              <a:t>Degree </a:t>
            </a:r>
            <a:pPr indent="0" marL="0">
              <a:buNone/>
            </a:pPr>
            <a:r>
              <a:rPr lang="en-US" sz="1600" b="1" dirty="0">
                <a:solidFill>
                  <a:schemeClr val="tx1"/>
                </a:solidFill>
                <a:highlight>
                  <a:srgbClr val="FFFF00"/>
                </a:highlight>
              </a:rPr>
              <a:t>[d]</a:t>
            </a:r>
            <a:pPr indent="0" marL="0">
              <a:buNone/>
            </a:pPr>
            <a:r>
              <a:rPr lang="en-US" sz="1600" dirty="0">
                <a:solidFill>
                  <a:schemeClr val="tx1"/>
                </a:solidFill>
              </a:rPr>
              <a:t> gave the lowest test MSE (</a:t>
            </a:r>
            <a:pPr indent="0" marL="0">
              <a:buNone/>
            </a:pPr>
            <a:r>
              <a:rPr lang="en-US" sz="1600" b="1" dirty="0">
                <a:solidFill>
                  <a:schemeClr val="tx1"/>
                </a:solidFill>
                <a:highlight>
                  <a:srgbClr val="FFFF00"/>
                </a:highlight>
              </a:rPr>
              <a:t>[ ]</a:t>
            </a:r>
            <a:pPr indent="0" marL="0">
              <a:buNone/>
            </a:pPr>
            <a:r>
              <a:rPr lang="en-US" sz="1600" dirty="0">
                <a:solidFill>
                  <a:schemeClr val="tx1"/>
                </a:solidFill>
              </a:rPr>
              <a:t>), test R² = </a:t>
            </a:r>
            <a:pPr indent="0" marL="0">
              <a:buNone/>
            </a:pPr>
            <a:r>
              <a:rPr lang="en-US" sz="1600" b="1" dirty="0">
                <a:solidFill>
                  <a:schemeClr val="tx1"/>
                </a:solidFill>
                <a:highlight>
                  <a:srgbClr val="FFFF00"/>
                </a:highlight>
              </a:rPr>
              <a:t>[ ]</a:t>
            </a:r>
            <a:endParaRPr lang="en-US" sz="1600" dirty="0"/>
          </a:p>
        </p:txBody>
      </p:sp>
      <p:sp>
        <p:nvSpPr>
          <p:cNvPr id="6" name="Result 2"/>
          <p:cNvSpPr/>
          <p:nvPr/>
        </p:nvSpPr>
        <p:spPr>
          <a:xfrm>
            <a:off x="457200" y="1828800"/>
            <a:ext cx="457200" cy="457200"/>
          </a:xfrm>
          <a:prstGeom prst="ellipse">
            <a:avLst/>
          </a:prstGeom>
          <a:solidFill>
            <a:schemeClr val="accent1"/>
          </a:solidFill>
          <a:ln w="12700">
            <a:solidFill>
              <a:schemeClr val="accent1"/>
            </a:solidFill>
            <a:prstDash val="solid"/>
          </a:ln>
        </p:spPr>
      </p:sp>
      <p:sp>
        <p:nvSpPr>
          <p:cNvPr id="7" name="Text 5"/>
          <p:cNvSpPr txBox="1"/>
          <p:nvPr/>
        </p:nvSpPr>
        <p:spPr>
          <a:xfrm>
            <a:off x="457200" y="1828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097280" y="1783080"/>
            <a:ext cx="7589520" cy="548640"/>
          </a:xfrm>
          <a:prstGeom prst="rect">
            <a:avLst/>
          </a:prstGeom>
          <a:noFill/>
          <a:ln/>
        </p:spPr>
        <p:txBody>
          <a:bodyPr wrap="square" lIns="0" tIns="0" rIns="0" bIns="0" rtlCol="0" anchor="ctr"/>
          <a:lstStyle/>
          <a:p>
            <a:pPr indent="0" marL="0">
              <a:buNone/>
            </a:pPr>
            <a:r>
              <a:rPr lang="en-US" sz="1600" dirty="0">
                <a:solidFill>
                  <a:schemeClr val="tx1"/>
                </a:solidFill>
              </a:rPr>
              <a:t>Predictions track actual prices: Pearson r = </a:t>
            </a:r>
            <a:pPr indent="0" marL="0">
              <a:buNone/>
            </a:pPr>
            <a:r>
              <a:rPr lang="en-US" sz="1600" b="1" dirty="0">
                <a:solidFill>
                  <a:schemeClr val="tx1"/>
                </a:solidFill>
                <a:highlight>
                  <a:srgbClr val="FFFF00"/>
                </a:highlight>
              </a:rPr>
              <a:t>[ ]</a:t>
            </a:r>
            <a:pPr indent="0" marL="0">
              <a:buNone/>
            </a:pPr>
            <a:r>
              <a:rPr lang="en-US" sz="1600" dirty="0">
                <a:solidFill>
                  <a:schemeClr val="tx1"/>
                </a:solidFill>
              </a:rPr>
              <a:t>, Spearman ρ = </a:t>
            </a:r>
            <a:pPr indent="0" marL="0">
              <a:buNone/>
            </a:pPr>
            <a:r>
              <a:rPr lang="en-US" sz="1600" b="1" dirty="0">
                <a:solidFill>
                  <a:schemeClr val="tx1"/>
                </a:solidFill>
                <a:highlight>
                  <a:srgbClr val="FFFF00"/>
                </a:highlight>
              </a:rPr>
              <a:t>[ ]</a:t>
            </a:r>
            <a:endParaRPr lang="en-US" sz="1600" dirty="0"/>
          </a:p>
        </p:txBody>
      </p:sp>
      <p:sp>
        <p:nvSpPr>
          <p:cNvPr id="9" name="Result 3"/>
          <p:cNvSpPr/>
          <p:nvPr/>
        </p:nvSpPr>
        <p:spPr>
          <a:xfrm>
            <a:off x="457200" y="251460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457200" y="2514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097280" y="2468880"/>
            <a:ext cx="7589520" cy="548640"/>
          </a:xfrm>
          <a:prstGeom prst="rect">
            <a:avLst/>
          </a:prstGeom>
          <a:noFill/>
          <a:ln/>
        </p:spPr>
        <p:txBody>
          <a:bodyPr wrap="square" lIns="0" tIns="0" rIns="0" bIns="0" rtlCol="0" anchor="ctr"/>
          <a:lstStyle/>
          <a:p>
            <a:pPr indent="0" marL="0">
              <a:buNone/>
            </a:pPr>
            <a:r>
              <a:rPr lang="en-US" sz="1600" dirty="0">
                <a:solidFill>
                  <a:schemeClr val="tx1"/>
                </a:solidFill>
              </a:rPr>
              <a:t>10-day trend: </a:t>
            </a:r>
            <a:pPr indent="0" marL="0">
              <a:buNone/>
            </a:pPr>
            <a:r>
              <a:rPr lang="en-US" sz="1600" b="1" dirty="0">
                <a:solidFill>
                  <a:schemeClr val="tx1"/>
                </a:solidFill>
                <a:highlight>
                  <a:srgbClr val="FFFF00"/>
                </a:highlight>
              </a:rPr>
              <a:t>[UPWARD / DOWNWARD]</a:t>
            </a:r>
            <a:pPr indent="0" marL="0">
              <a:buNone/>
            </a:pPr>
            <a:r>
              <a:rPr lang="en-US" sz="1600" dirty="0">
                <a:solidFill>
                  <a:schemeClr val="tx1"/>
                </a:solidFill>
              </a:rPr>
              <a:t>, day 10 at ₹</a:t>
            </a:r>
            <a:pPr indent="0" marL="0">
              <a:buNone/>
            </a:pPr>
            <a:r>
              <a:rPr lang="en-US" sz="1600" b="1" dirty="0">
                <a:solidFill>
                  <a:schemeClr val="tx1"/>
                </a:solidFill>
                <a:highlight>
                  <a:srgbClr val="FFFF00"/>
                </a:highlight>
              </a:rPr>
              <a:t>[ ]</a:t>
            </a:r>
            <a:pPr indent="0" marL="0">
              <a:buNone/>
            </a:pPr>
            <a:r>
              <a:rPr lang="en-US" sz="1600" dirty="0">
                <a:solidFill>
                  <a:schemeClr val="tx1"/>
                </a:solidFill>
              </a:rPr>
              <a:t> ± </a:t>
            </a:r>
            <a:pPr indent="0" marL="0">
              <a:buNone/>
            </a:pPr>
            <a:r>
              <a:rPr lang="en-US" sz="1600" b="1" dirty="0">
                <a:solidFill>
                  <a:schemeClr val="tx1"/>
                </a:solidFill>
                <a:highlight>
                  <a:srgbClr val="FFFF00"/>
                </a:highlight>
              </a:rPr>
              <a:t>[ ]</a:t>
            </a:r>
            <a:endParaRPr lang="en-US" sz="1600" dirty="0"/>
          </a:p>
        </p:txBody>
      </p:sp>
      <p:sp>
        <p:nvSpPr>
          <p:cNvPr id="12" name="Result 4"/>
          <p:cNvSpPr/>
          <p:nvPr/>
        </p:nvSpPr>
        <p:spPr>
          <a:xfrm>
            <a:off x="457200" y="320040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45720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097280" y="3154680"/>
            <a:ext cx="7589520" cy="548640"/>
          </a:xfrm>
          <a:prstGeom prst="rect">
            <a:avLst/>
          </a:prstGeom>
          <a:noFill/>
          <a:ln/>
        </p:spPr>
        <p:txBody>
          <a:bodyPr wrap="square" lIns="0" tIns="0" rIns="0" bIns="0" rtlCol="0" anchor="ctr"/>
          <a:lstStyle/>
          <a:p>
            <a:pPr indent="0" marL="0">
              <a:buNone/>
            </a:pPr>
            <a:r>
              <a:rPr lang="en-US" sz="1600" dirty="0">
                <a:solidFill>
                  <a:schemeClr val="tx1"/>
                </a:solidFill>
              </a:rPr>
              <a:t>F-test: polynomial </a:t>
            </a:r>
            <a:pPr indent="0" marL="0">
              <a:buNone/>
            </a:pPr>
            <a:r>
              <a:rPr lang="en-US" sz="1600" b="1" dirty="0">
                <a:solidFill>
                  <a:schemeClr val="tx1"/>
                </a:solidFill>
                <a:highlight>
                  <a:srgbClr val="FFFF00"/>
                </a:highlight>
              </a:rPr>
              <a:t>[is / is not]</a:t>
            </a:r>
            <a:pPr indent="0" marL="0">
              <a:buNone/>
            </a:pPr>
            <a:r>
              <a:rPr lang="en-US" sz="1600" dirty="0">
                <a:solidFill>
                  <a:schemeClr val="tx1"/>
                </a:solidFill>
              </a:rPr>
              <a:t> significantly better than a straight line</a:t>
            </a:r>
            <a:endParaRPr lang="en-US" sz="1600" dirty="0"/>
          </a:p>
        </p:txBody>
      </p:sp>
      <p:sp>
        <p:nvSpPr>
          <p:cNvPr id="15" name="Result 5"/>
          <p:cNvSpPr/>
          <p:nvPr/>
        </p:nvSpPr>
        <p:spPr>
          <a:xfrm>
            <a:off x="457200" y="3886200"/>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45720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Text 15"/>
          <p:cNvSpPr txBox="1"/>
          <p:nvPr/>
        </p:nvSpPr>
        <p:spPr>
          <a:xfrm>
            <a:off x="1097280" y="3840480"/>
            <a:ext cx="7589520" cy="548640"/>
          </a:xfrm>
          <a:prstGeom prst="rect">
            <a:avLst/>
          </a:prstGeom>
          <a:noFill/>
          <a:ln/>
        </p:spPr>
        <p:txBody>
          <a:bodyPr wrap="square" lIns="0" tIns="0" rIns="0" bIns="0" rtlCol="0" anchor="ctr"/>
          <a:lstStyle/>
          <a:p>
            <a:pPr indent="0" marL="0">
              <a:buNone/>
            </a:pPr>
            <a:r>
              <a:rPr lang="en-US" sz="1600" dirty="0">
                <a:solidFill>
                  <a:schemeClr val="tx1"/>
                </a:solidFill>
              </a:rPr>
              <a:t>Residuals </a:t>
            </a:r>
            <a:pPr indent="0" marL="0">
              <a:buNone/>
            </a:pPr>
            <a:r>
              <a:rPr lang="en-US" sz="1600" b="1" dirty="0">
                <a:solidFill>
                  <a:schemeClr val="tx1"/>
                </a:solidFill>
                <a:highlight>
                  <a:srgbClr val="FFFF00"/>
                </a:highlight>
              </a:rPr>
              <a:t>[are / are not]</a:t>
            </a:r>
            <a:pPr indent="0" marL="0">
              <a:buNone/>
            </a:pPr>
            <a:r>
              <a:rPr lang="en-US" sz="1600" dirty="0">
                <a:solidFill>
                  <a:schemeClr val="tx1"/>
                </a:solidFill>
              </a:rPr>
              <a:t> Normal; forecasts are reliable only a few days ahead</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Questions circle"/>
          <p:cNvSpPr/>
          <p:nvPr/>
        </p:nvSpPr>
        <p:spPr>
          <a:xfrm>
            <a:off x="548640" y="502920"/>
            <a:ext cx="777240" cy="777240"/>
          </a:xfrm>
          <a:prstGeom prst="ellipse">
            <a:avLst/>
          </a:prstGeom>
          <a:solidFill>
            <a:schemeClr val="accent2"/>
          </a:solidFill>
          <a:ln w="12700">
            <a:solidFill>
              <a:schemeClr val="accent2"/>
            </a:solidFill>
            <a:prstDash val="solid"/>
          </a:ln>
        </p:spPr>
      </p:sp>
      <p:pic>
        <p:nvPicPr>
          <p:cNvPr id="3" name="Questions icon" descr="preencoded.png">    </p:cNvPr>
          <p:cNvPicPr>
            <a:picLocks noChangeAspect="1"/>
          </p:cNvPicPr>
          <p:nvPr/>
        </p:nvPicPr>
        <p:blipFill>
          <a:blip r:embed="rId1"/>
          <a:stretch>
            <a:fillRect/>
          </a:stretch>
        </p:blipFill>
        <p:spPr>
          <a:xfrm>
            <a:off x="742950" y="697230"/>
            <a:ext cx="388620" cy="388620"/>
          </a:xfrm>
          <a:prstGeom prst="rect">
            <a:avLst/>
          </a:prstGeom>
        </p:spPr>
      </p:pic>
      <p:sp>
        <p:nvSpPr>
          <p:cNvPr id="4" name="Text 0"/>
          <p:cNvSpPr/>
          <p:nvPr>
            <p:ph idx="100" type="title" hasCustomPrompt="1"/>
          </p:nvPr>
        </p:nvSpPr>
        <p:spPr>
          <a:xfrm>
            <a:off x="548640" y="1417320"/>
            <a:ext cx="8046720" cy="137160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5" name="Text 0"/>
          <p:cNvSpPr/>
          <p:nvPr>
            <p:ph idx="101" type="body" hasCustomPrompt="1"/>
          </p:nvPr>
        </p:nvSpPr>
        <p:spPr>
          <a:xfrm>
            <a:off x="548640" y="2926080"/>
            <a:ext cx="8046720" cy="1645920"/>
          </a:xfrm>
          <a:prstGeom prst="rect">
            <a:avLst/>
          </a:prstGeom>
          <a:noFill/>
          <a:ln/>
        </p:spPr>
        <p:txBody>
          <a:bodyPr wrap="square" rtlCol="0" anchor="t"/>
          <a:lstStyle/>
          <a:p>
            <a:pPr algn="l" indent="0" marL="0">
              <a:buNone/>
            </a:pPr>
            <a:r>
              <a:rPr lang="en-US" sz="1600" dirty="0">
                <a:solidFill>
                  <a:schemeClr val="bg2"/>
                </a:solidFill>
              </a:rPr>
              <a:t>Questions?</a:t>
            </a:r>
            <a:endParaRPr lang="en-US" sz="1600" dirty="0"/>
          </a:p>
        </p:txBody>
      </p:sp>
    </p:spTree>
  </p:cSld>
  <p:clrMapOvr>
    <a:masterClrMapping/>
  </p:clrMapOvr>
</p:sld>
</file>

<file path=ppt/theme/theme1.xml><?xml version="1.0" encoding="utf-8"?>
<a:theme xmlns:a="http://schemas.openxmlformats.org/drawingml/2006/main" name="Market Green">
  <a:themeElements>
    <a:clrScheme name="Market Green">
      <a:dk1>
        <a:srgbClr val="1A1A1A"/>
      </a:dk1>
      <a:lt1>
        <a:srgbClr val="FFFFFF"/>
      </a:lt1>
      <a:dk2>
        <a:srgbClr val="0B3D2E"/>
      </a:dk2>
      <a:lt2>
        <a:srgbClr val="E8F3EC"/>
      </a:lt2>
      <a:accent1>
        <a:srgbClr val="1E8449"/>
      </a:accent1>
      <a:accent2>
        <a:srgbClr val="F2A900"/>
      </a:accent2>
      <a:accent3>
        <a:srgbClr val="C0392B"/>
      </a:accent3>
      <a:accent4>
        <a:srgbClr val="2E4053"/>
      </a:accent4>
      <a:accent5>
        <a:srgbClr val="7FB3A0"/>
      </a:accent5>
      <a:accent6>
        <a:srgbClr val="6B7B75"/>
      </a:accent6>
      <a:hlink>
        <a:srgbClr val="1E8449"/>
      </a:hlink>
      <a:folHlink>
        <a:srgbClr val="7FB3A0"/>
      </a:folHlink>
    </a:clrScheme>
    <a:fontScheme name="Market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Price Trend Prediction Using Polynomial Regression</dc:title>
  <dc:subject>PptxGenJS Presentation</dc:subject>
  <dc:creator>PptxGenJS</dc:creator>
  <cp:lastModifiedBy>PptxGenJS</cp:lastModifiedBy>
  <cp:revision>1</cp:revision>
  <dcterms:created xsi:type="dcterms:W3CDTF">2026-10-22T18:05:10Z</dcterms:created>
  <dcterms:modified xsi:type="dcterms:W3CDTF">2026-10-22T18:05:10Z</dcterms:modified>
</cp:coreProperties>
</file>